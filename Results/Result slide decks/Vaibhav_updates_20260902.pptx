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71" r:id="rId5"/>
    <p:sldId id="272" r:id="rId6"/>
    <p:sldId id="276" r:id="rId7"/>
    <p:sldId id="273" r:id="rId8"/>
    <p:sldId id="265" r:id="rId9"/>
    <p:sldId id="264" r:id="rId10"/>
    <p:sldId id="266" r:id="rId11"/>
    <p:sldId id="261" r:id="rId12"/>
    <p:sldId id="258" r:id="rId13"/>
    <p:sldId id="262" r:id="rId14"/>
    <p:sldId id="259" r:id="rId15"/>
    <p:sldId id="274" r:id="rId16"/>
    <p:sldId id="268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B089C-E5F5-4AF6-BCED-83740ECC558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E7486-8959-4F6F-9F01-3CD67618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82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E38B-ED28-2E38-2459-23FCA3D6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22B0F-6E45-7517-1CA9-6901FF9A5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CF2A9-F253-5461-8C4E-E0166E9C1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CE538-1B36-3797-9525-6C24693CE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E7486-8959-4F6F-9F01-3CD6761824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9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E7486-8959-4F6F-9F01-3CD676182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91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66A2-DD9D-5388-DB0A-942619B8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C55CE-5734-2954-619B-5AA1EE989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7C6CA-B82D-1A7A-0D61-7B4BAE8C8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DF5A2-37D4-12D8-6CD3-B0FC03214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E7486-8959-4F6F-9F01-3CD6761824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5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ACB0-688A-AAB7-37AE-8CAB6677B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B324B-4327-A495-5787-5B040B7B7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1F6ED-C5AF-2525-E156-3EF56710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8CB62-07D6-058C-C287-CF6B0B97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B640-619C-D05D-EE5A-A03DDD44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17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705B-1726-E3B7-C978-9E1F4BE4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3EAB-338A-0FA7-6873-309A333A6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C8C28-154B-2355-16E8-88193139E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399EF-90F9-E93A-6E28-6D6EF124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8ECC8-1273-CB8D-D8AC-384A65C5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84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4557-42CA-4EDE-09A0-284E080C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98921-6F85-717E-3D33-74B3DC76D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481AD-E431-B186-E1E4-4643CB88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42E5-13DA-874C-5A9F-9CFD2902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3144-BC5A-6A33-CAEC-93FE1ECE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CF5C-DA0F-43DC-FE45-79FB789B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BFB2-0FFA-8E12-4EDE-424F57362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49A1-9098-C305-546D-3B1A82CA8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6E970-8380-C34F-E85F-226B86A5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2BAA2-EEF0-06C0-9A65-C0E9765D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F3330-D819-0C7E-84B7-2595D77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2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63E7-0033-12D7-9C30-EFD5E50A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10B13-503C-92FE-D71C-F00F36AF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D9A40-ED52-E1E7-4669-2DBEEF017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33427-DCA9-12C6-FA29-4E3D32197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6E7BA-3066-D6D7-70F6-D7A4F06DE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63618-1530-1A3C-8971-9B2AE41F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64026-B4A8-B7FD-4161-3301FDDB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1EF92-D4A4-E2A0-70C4-50DF12B2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1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E89D-9864-6E09-6008-F2FBCA44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B2E10-FAD0-C5E9-5F2B-9FF933B0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5802A-0E2C-FD44-8E0E-F29EB081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3AF7D-760E-C010-58C0-8ACD1DF4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3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861B3-E3C0-1070-126C-45B8245C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C19E6-E0DC-A875-89A1-7B7E4ADC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58D67-0128-FD76-D7E1-C26ADE45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4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B2A0-C2FB-F2C3-EE0B-9628E251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ACBC1-8745-FD36-DFB6-5CDEF1081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A04C0-2826-52B9-44EA-5180E5C07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483AF-E230-2329-76E4-C74A9683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D625C-409B-86E6-5248-865DD542D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CFFF6-97D8-B3C7-2A4C-2179ED7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1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980A-A791-DCE4-EE71-2802965D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C03FF-514E-13CE-6BB2-0929288D6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87614-3C00-992B-284C-C8E9E2FB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F1986-8C01-D0E9-7118-45297676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B87A2-2610-AB9B-7EEE-64DE60D7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165E4-24BB-4BC1-9028-DD9428DB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7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9494-67CF-6052-26CB-48FE0804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2B335-372D-1F0C-56A7-1FD1F35C6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AD335-7FB8-C30D-4DAC-4E1494D1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09853-1B78-BFAC-4924-79F6D2E1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E7F6E-2752-E738-1791-16609F35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6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813C4-7CB3-0279-4AB8-0FBDFBC01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B79D7-C448-B25A-0933-C60F5AB7D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C7229-1225-7738-AF59-21A68105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AEE64-63F9-208A-1E97-EC218091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8F56-B3B5-373A-37A2-277DC6DA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3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35FFC-E372-2841-FC57-0E460B701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1DD61-24FE-D281-D598-33A48B1D7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4E334-717F-EB79-8557-784E94DF7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79C6A-4182-494E-90F3-CB69799546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9C40-7F7D-0FD3-3DB2-6402FBEB8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6C9CC-B283-D6BA-E89B-EF5302DBD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2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9FDF-BF21-581F-3B4A-53E0D04C1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Acoustic scattering by spheres and swim bladders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F036A-F214-65B4-63F2-507F19052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5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AEB8-FEB7-84FC-DD37-4462595B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14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Spherical benchmark models</a:t>
            </a:r>
          </a:p>
        </p:txBody>
      </p:sp>
    </p:spTree>
    <p:extLst>
      <p:ext uri="{BB962C8B-B14F-4D97-AF65-F5344CB8AC3E}">
        <p14:creationId xmlns:p14="http://schemas.microsoft.com/office/powerpoint/2010/main" val="3666833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A03F-1902-CCC0-FC07-69BEEA6A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5E57FF-C462-6972-B7FE-74D7A0785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043" y="365125"/>
            <a:ext cx="9276094" cy="62680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2AC098-41B5-11C2-9A31-F9A1B4C418BF}"/>
              </a:ext>
            </a:extLst>
          </p:cNvPr>
          <p:cNvSpPr/>
          <p:nvPr/>
        </p:nvSpPr>
        <p:spPr>
          <a:xfrm>
            <a:off x="6923099" y="3428752"/>
            <a:ext cx="3237221" cy="12173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B586-93A3-1A9C-3DE3-E226DCD9B0C3}"/>
              </a:ext>
            </a:extLst>
          </p:cNvPr>
          <p:cNvSpPr txBox="1"/>
          <p:nvPr/>
        </p:nvSpPr>
        <p:spPr>
          <a:xfrm>
            <a:off x="6986919" y="3428752"/>
            <a:ext cx="3885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Radius of scatterer: </a:t>
            </a:r>
            <a:r>
              <a:rPr lang="en-US" dirty="0"/>
              <a:t>2.5 cm</a:t>
            </a:r>
          </a:p>
          <a:p>
            <a:r>
              <a:rPr lang="en-US" b="1" dirty="0"/>
              <a:t>Radius of domain: </a:t>
            </a:r>
            <a:r>
              <a:rPr lang="en-US" dirty="0"/>
              <a:t>4.5 cm</a:t>
            </a:r>
          </a:p>
          <a:p>
            <a:r>
              <a:rPr lang="en-US" b="1" dirty="0"/>
              <a:t>PML thickness: </a:t>
            </a:r>
            <a:r>
              <a:rPr lang="en-US" dirty="0"/>
              <a:t>1 cm</a:t>
            </a:r>
          </a:p>
          <a:p>
            <a:r>
              <a:rPr lang="en-US" b="1" dirty="0"/>
              <a:t>Physics-based mesh: </a:t>
            </a:r>
            <a:r>
              <a:rPr lang="en-US" dirty="0"/>
              <a:t>Fine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869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BAB4-86BE-15F2-B238-A0E5806D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3E8751-AFB3-8CB3-57DE-7994CBD60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04" y="418586"/>
            <a:ext cx="8943896" cy="60742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14F72C-59A8-41DB-6BCE-446450D1BE9B}"/>
              </a:ext>
            </a:extLst>
          </p:cNvPr>
          <p:cNvSpPr/>
          <p:nvPr/>
        </p:nvSpPr>
        <p:spPr>
          <a:xfrm>
            <a:off x="6746818" y="1345952"/>
            <a:ext cx="3237221" cy="12173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7D495-1D99-8BAD-62CE-C583D8017C99}"/>
              </a:ext>
            </a:extLst>
          </p:cNvPr>
          <p:cNvSpPr txBox="1"/>
          <p:nvPr/>
        </p:nvSpPr>
        <p:spPr>
          <a:xfrm>
            <a:off x="6810638" y="1345952"/>
            <a:ext cx="3885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Radius of scatterer: </a:t>
            </a:r>
            <a:r>
              <a:rPr lang="en-US" dirty="0"/>
              <a:t>2.5 cm</a:t>
            </a:r>
          </a:p>
          <a:p>
            <a:r>
              <a:rPr lang="en-US" b="1" dirty="0"/>
              <a:t>Radius of domain: </a:t>
            </a:r>
            <a:r>
              <a:rPr lang="en-US" dirty="0"/>
              <a:t>4.5 cm</a:t>
            </a:r>
          </a:p>
          <a:p>
            <a:r>
              <a:rPr lang="en-US" b="1" dirty="0"/>
              <a:t>PML thickness: </a:t>
            </a:r>
            <a:r>
              <a:rPr lang="en-US" dirty="0"/>
              <a:t>1 cm</a:t>
            </a:r>
          </a:p>
          <a:p>
            <a:r>
              <a:rPr lang="en-US" b="1" dirty="0"/>
              <a:t>Physics-based mesh: </a:t>
            </a:r>
            <a:r>
              <a:rPr lang="en-US" dirty="0"/>
              <a:t>Fine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488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FF6A-628C-13E4-8573-3CAF6BC0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Low frequency mismatches are ‘mostly’ resolved by making the domain size bigger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64FE5-1063-920B-088A-8FA1CAAA5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325563"/>
            <a:ext cx="8014709" cy="5381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C7AF5-D7B2-B16D-009B-4662BB5AF24D}"/>
              </a:ext>
            </a:extLst>
          </p:cNvPr>
          <p:cNvSpPr txBox="1"/>
          <p:nvPr/>
        </p:nvSpPr>
        <p:spPr>
          <a:xfrm>
            <a:off x="8205209" y="2410722"/>
            <a:ext cx="38862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</a:t>
            </a:r>
          </a:p>
          <a:p>
            <a:pPr marL="342900" indent="-342900">
              <a:buAutoNum type="arabicParenR"/>
            </a:pPr>
            <a:r>
              <a:rPr lang="en-US" sz="2000" dirty="0"/>
              <a:t>The limits on the y-axis are different compared to the previous soft sphere plot to see differences more clearly</a:t>
            </a:r>
          </a:p>
          <a:p>
            <a:pPr marL="342900" indent="-342900">
              <a:buAutoNum type="arabicParenR"/>
            </a:pPr>
            <a:r>
              <a:rPr lang="en-US" sz="2000" dirty="0"/>
              <a:t>These simulations only focus on the low frequency region where the mismatches were</a:t>
            </a:r>
          </a:p>
        </p:txBody>
      </p:sp>
    </p:spTree>
    <p:extLst>
      <p:ext uri="{BB962C8B-B14F-4D97-AF65-F5344CB8AC3E}">
        <p14:creationId xmlns:p14="http://schemas.microsoft.com/office/powerpoint/2010/main" val="293258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66911D9-4367-809E-B27D-5906644AF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82850"/>
            <a:ext cx="8928517" cy="60923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5E6D467-C14B-5CB8-6C04-543A1FC9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977900"/>
            <a:ext cx="4191000" cy="1879600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For air sphere mismatch in resonance is also improved by making the domain size bigger.</a:t>
            </a:r>
          </a:p>
        </p:txBody>
      </p:sp>
    </p:spTree>
    <p:extLst>
      <p:ext uri="{BB962C8B-B14F-4D97-AF65-F5344CB8AC3E}">
        <p14:creationId xmlns:p14="http://schemas.microsoft.com/office/powerpoint/2010/main" val="185874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7C7F6-9593-4684-BD7E-A7D27EC0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0" y="2624931"/>
            <a:ext cx="7467600" cy="1325563"/>
          </a:xfrm>
        </p:spPr>
        <p:txBody>
          <a:bodyPr/>
          <a:lstStyle/>
          <a:p>
            <a:r>
              <a:rPr lang="en-US" b="1" dirty="0"/>
              <a:t>Fish and swim bladder models</a:t>
            </a:r>
          </a:p>
        </p:txBody>
      </p:sp>
    </p:spTree>
    <p:extLst>
      <p:ext uri="{BB962C8B-B14F-4D97-AF65-F5344CB8AC3E}">
        <p14:creationId xmlns:p14="http://schemas.microsoft.com/office/powerpoint/2010/main" val="2081277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DDFA-4D13-9169-EAE8-85176C42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465EB0E-3127-6E31-092F-5394ACF0D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" b="-3639"/>
          <a:stretch>
            <a:fillRect/>
          </a:stretch>
        </p:blipFill>
        <p:spPr>
          <a:xfrm>
            <a:off x="730228" y="1316494"/>
            <a:ext cx="4257104" cy="3680070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06C3F-1A6C-FABD-C320-A3A75F72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862" y="-191377"/>
            <a:ext cx="10515600" cy="1325563"/>
          </a:xfrm>
        </p:spPr>
        <p:txBody>
          <a:bodyPr/>
          <a:lstStyle/>
          <a:p>
            <a:r>
              <a:rPr lang="en-US" dirty="0"/>
              <a:t>Rockfish: Dorso-ventral incidence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1CA36-8518-630E-7613-754A13AFD641}"/>
              </a:ext>
            </a:extLst>
          </p:cNvPr>
          <p:cNvSpPr txBox="1"/>
          <p:nvPr/>
        </p:nvSpPr>
        <p:spPr>
          <a:xfrm>
            <a:off x="532267" y="5158588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15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2.5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1.4 cm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1CB73E9-79A6-A8C0-4467-C2B3684B6A75}"/>
              </a:ext>
            </a:extLst>
          </p:cNvPr>
          <p:cNvSpPr/>
          <p:nvPr/>
        </p:nvSpPr>
        <p:spPr>
          <a:xfrm rot="5400000">
            <a:off x="2227949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A1D5312-30F2-F94E-ACAB-BF5D4B2EC01E}"/>
              </a:ext>
            </a:extLst>
          </p:cNvPr>
          <p:cNvSpPr/>
          <p:nvPr/>
        </p:nvSpPr>
        <p:spPr>
          <a:xfrm rot="5400000">
            <a:off x="2512426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B6E4A32-3814-E5E5-C545-FC3EA5A9B877}"/>
              </a:ext>
            </a:extLst>
          </p:cNvPr>
          <p:cNvSpPr/>
          <p:nvPr/>
        </p:nvSpPr>
        <p:spPr>
          <a:xfrm rot="5400000">
            <a:off x="1922612" y="2145865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D19145-5F6D-A28B-7C43-CB665F385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300" y="1134186"/>
            <a:ext cx="7047105" cy="540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0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3E71-F482-68BF-6A70-2B59667A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9580F44-2CFB-B9E1-9766-4C5DDD30D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" b="-3639"/>
          <a:stretch>
            <a:fillRect/>
          </a:stretch>
        </p:blipFill>
        <p:spPr>
          <a:xfrm>
            <a:off x="730228" y="1316494"/>
            <a:ext cx="4257104" cy="3680070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562EF0-E917-29E8-0010-96ED2613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163699"/>
            <a:ext cx="10515600" cy="1325563"/>
          </a:xfrm>
        </p:spPr>
        <p:txBody>
          <a:bodyPr/>
          <a:lstStyle/>
          <a:p>
            <a:r>
              <a:rPr lang="en-US" dirty="0"/>
              <a:t>Rockfish: Anterio-posterior incidence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FFFAE-8F00-7B1D-BC91-CCDC6A45773F}"/>
              </a:ext>
            </a:extLst>
          </p:cNvPr>
          <p:cNvSpPr txBox="1"/>
          <p:nvPr/>
        </p:nvSpPr>
        <p:spPr>
          <a:xfrm>
            <a:off x="532267" y="5158588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15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2.5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1.4 cm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A91CE63-A453-0C84-ADB1-5B9096EAD34E}"/>
              </a:ext>
            </a:extLst>
          </p:cNvPr>
          <p:cNvSpPr/>
          <p:nvPr/>
        </p:nvSpPr>
        <p:spPr>
          <a:xfrm rot="20020075">
            <a:off x="906185" y="3552279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FF6D67A-CC82-BB18-EFEA-D18B7AC65348}"/>
              </a:ext>
            </a:extLst>
          </p:cNvPr>
          <p:cNvSpPr/>
          <p:nvPr/>
        </p:nvSpPr>
        <p:spPr>
          <a:xfrm rot="20020075">
            <a:off x="1048423" y="3824749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F0BC537-5B82-C8F1-1D02-5AF8D03DAB22}"/>
              </a:ext>
            </a:extLst>
          </p:cNvPr>
          <p:cNvSpPr/>
          <p:nvPr/>
        </p:nvSpPr>
        <p:spPr>
          <a:xfrm rot="20020075">
            <a:off x="763947" y="3279808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1AD59A-5702-A575-70FD-EA6B8D472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899" y="1015420"/>
            <a:ext cx="7002505" cy="53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90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48354-9F90-C1A5-F1C9-BC7088DD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328B088-86BC-4F0C-53C3-E16197EEB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" b="-3639"/>
          <a:stretch>
            <a:fillRect/>
          </a:stretch>
        </p:blipFill>
        <p:spPr>
          <a:xfrm>
            <a:off x="730228" y="1316494"/>
            <a:ext cx="4257104" cy="3680070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28889-1025-FB10-9E3E-D1C042F0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286" y="-128368"/>
            <a:ext cx="10515600" cy="1325563"/>
          </a:xfrm>
        </p:spPr>
        <p:txBody>
          <a:bodyPr/>
          <a:lstStyle/>
          <a:p>
            <a:r>
              <a:rPr lang="en-US" dirty="0"/>
              <a:t>Rockfish: Lateral incidence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3CFA1-7C83-04EF-6260-62E7ABF3B4FE}"/>
              </a:ext>
            </a:extLst>
          </p:cNvPr>
          <p:cNvSpPr txBox="1"/>
          <p:nvPr/>
        </p:nvSpPr>
        <p:spPr>
          <a:xfrm>
            <a:off x="532267" y="5158588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15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2.5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1.4 cm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B5B3E10-9DE1-33A7-6BC6-85D8966C96D7}"/>
              </a:ext>
            </a:extLst>
          </p:cNvPr>
          <p:cNvSpPr/>
          <p:nvPr/>
        </p:nvSpPr>
        <p:spPr>
          <a:xfrm rot="13633114">
            <a:off x="2545992" y="3818812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00973D4-CE88-6F71-B230-13795C57AF1B}"/>
              </a:ext>
            </a:extLst>
          </p:cNvPr>
          <p:cNvSpPr/>
          <p:nvPr/>
        </p:nvSpPr>
        <p:spPr>
          <a:xfrm rot="13633114">
            <a:off x="2761941" y="3610734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E00A82C-4FA8-5876-D0A3-0D4B5AF7D1D9}"/>
              </a:ext>
            </a:extLst>
          </p:cNvPr>
          <p:cNvSpPr/>
          <p:nvPr/>
        </p:nvSpPr>
        <p:spPr>
          <a:xfrm rot="13633114">
            <a:off x="2973978" y="3408152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65B78B-49A8-D1DD-7D1F-E56556A87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60" y="1104899"/>
            <a:ext cx="7143974" cy="548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3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6DBA2-D0B3-CC2B-71D8-B59F3221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FAB9D-BE6B-A557-BF10-6CB104958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344" y="-42714"/>
            <a:ext cx="10515600" cy="1325563"/>
          </a:xfrm>
        </p:spPr>
        <p:txBody>
          <a:bodyPr/>
          <a:lstStyle/>
          <a:p>
            <a:r>
              <a:rPr lang="en-US" dirty="0"/>
              <a:t>Midshipman: Dorso-ventral incidence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C58320FF-FC91-35BE-338B-0D8478CF4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09"/>
          <a:stretch>
            <a:fillRect/>
          </a:stretch>
        </p:blipFill>
        <p:spPr>
          <a:xfrm>
            <a:off x="335594" y="969491"/>
            <a:ext cx="507026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5F607F-4A5F-D15E-8060-BE1B2E70023E}"/>
              </a:ext>
            </a:extLst>
          </p:cNvPr>
          <p:cNvSpPr txBox="1"/>
          <p:nvPr/>
        </p:nvSpPr>
        <p:spPr>
          <a:xfrm>
            <a:off x="730230" y="5394034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2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0.5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0.52 cm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B564273-EFB8-BA7E-2336-F2A4DBA8BA21}"/>
              </a:ext>
            </a:extLst>
          </p:cNvPr>
          <p:cNvSpPr/>
          <p:nvPr/>
        </p:nvSpPr>
        <p:spPr>
          <a:xfrm rot="5400000">
            <a:off x="2227949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C17A5E5-5BF5-984A-B958-6B9957EE952C}"/>
              </a:ext>
            </a:extLst>
          </p:cNvPr>
          <p:cNvSpPr/>
          <p:nvPr/>
        </p:nvSpPr>
        <p:spPr>
          <a:xfrm rot="5400000">
            <a:off x="2512426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F5C385-7EAC-A62C-AA79-B2C9EE1EA5C0}"/>
              </a:ext>
            </a:extLst>
          </p:cNvPr>
          <p:cNvSpPr/>
          <p:nvPr/>
        </p:nvSpPr>
        <p:spPr>
          <a:xfrm rot="5400000">
            <a:off x="1922612" y="2145865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266458-C396-B5BB-E626-CC670C6E8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946" y="1104899"/>
            <a:ext cx="7155489" cy="548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57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A7BD-CF80-94D3-74FA-8C7FEC93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765" y="-56561"/>
            <a:ext cx="10515600" cy="1325563"/>
          </a:xfrm>
        </p:spPr>
        <p:txBody>
          <a:bodyPr/>
          <a:lstStyle/>
          <a:p>
            <a:r>
              <a:rPr lang="en-US" dirty="0"/>
              <a:t>Midshipman: Anterio-posterior incidence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615B0EBF-2BCB-49E2-50B1-FA8BFCAB5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09"/>
          <a:stretch>
            <a:fillRect/>
          </a:stretch>
        </p:blipFill>
        <p:spPr>
          <a:xfrm>
            <a:off x="335594" y="969491"/>
            <a:ext cx="507026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F22BE2-7AC2-FE93-6CCB-984C3DC10BB9}"/>
              </a:ext>
            </a:extLst>
          </p:cNvPr>
          <p:cNvSpPr txBox="1"/>
          <p:nvPr/>
        </p:nvSpPr>
        <p:spPr>
          <a:xfrm>
            <a:off x="730230" y="5394034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2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0.5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0.52 cm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57798FF-3127-FFB6-A860-5BDBE4DE78A2}"/>
              </a:ext>
            </a:extLst>
          </p:cNvPr>
          <p:cNvSpPr/>
          <p:nvPr/>
        </p:nvSpPr>
        <p:spPr>
          <a:xfrm rot="20020075">
            <a:off x="798706" y="341542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509F073-502F-83D5-4EB1-5D92A39EF05E}"/>
              </a:ext>
            </a:extLst>
          </p:cNvPr>
          <p:cNvSpPr/>
          <p:nvPr/>
        </p:nvSpPr>
        <p:spPr>
          <a:xfrm rot="20020075">
            <a:off x="940944" y="368789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7789C38-C425-621F-F7AD-75C6EC61BAA3}"/>
              </a:ext>
            </a:extLst>
          </p:cNvPr>
          <p:cNvSpPr/>
          <p:nvPr/>
        </p:nvSpPr>
        <p:spPr>
          <a:xfrm rot="20020075">
            <a:off x="656468" y="3142952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1F744F-2244-52AD-7A2F-5FF5F4EB6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024" y="1104899"/>
            <a:ext cx="7155489" cy="548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3B86-7410-BE7C-4684-4AD6239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4B13-0E2C-2D32-96D2-751395C5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713" y="-174287"/>
            <a:ext cx="10515600" cy="1325563"/>
          </a:xfrm>
        </p:spPr>
        <p:txBody>
          <a:bodyPr/>
          <a:lstStyle/>
          <a:p>
            <a:r>
              <a:rPr lang="en-US" dirty="0"/>
              <a:t>Midshipman: Lateral incidence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B9080CCE-ED09-D7EC-BCD0-EE12D13AD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09"/>
          <a:stretch>
            <a:fillRect/>
          </a:stretch>
        </p:blipFill>
        <p:spPr>
          <a:xfrm>
            <a:off x="335594" y="969491"/>
            <a:ext cx="507026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F06081-E07F-3439-D280-83C38EAAA0BA}"/>
              </a:ext>
            </a:extLst>
          </p:cNvPr>
          <p:cNvSpPr txBox="1"/>
          <p:nvPr/>
        </p:nvSpPr>
        <p:spPr>
          <a:xfrm>
            <a:off x="730230" y="5394034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2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0.5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0.52 cm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BCA0604-F6B4-1B8B-A0E6-9B305651E0DD}"/>
              </a:ext>
            </a:extLst>
          </p:cNvPr>
          <p:cNvSpPr/>
          <p:nvPr/>
        </p:nvSpPr>
        <p:spPr>
          <a:xfrm rot="13633114">
            <a:off x="2649850" y="4220540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7AD5329-1E83-6B0C-7A6E-F4017F25365E}"/>
              </a:ext>
            </a:extLst>
          </p:cNvPr>
          <p:cNvSpPr/>
          <p:nvPr/>
        </p:nvSpPr>
        <p:spPr>
          <a:xfrm rot="13633114">
            <a:off x="2865799" y="4012462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A4BF5C0-5979-0A2F-AFDA-5C759EA3EB11}"/>
              </a:ext>
            </a:extLst>
          </p:cNvPr>
          <p:cNvSpPr/>
          <p:nvPr/>
        </p:nvSpPr>
        <p:spPr>
          <a:xfrm rot="13633114">
            <a:off x="3077836" y="3809880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99016C-8BE9-8043-B2EE-DDC9989F6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786" y="1095803"/>
            <a:ext cx="7326041" cy="562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40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3150-C308-3606-0CA0-E42120DD9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-196925"/>
            <a:ext cx="10515600" cy="1325563"/>
          </a:xfrm>
        </p:spPr>
        <p:txBody>
          <a:bodyPr/>
          <a:lstStyle/>
          <a:p>
            <a:r>
              <a:rPr lang="en-US" dirty="0"/>
              <a:t>Midshipman-Rockfish dorsoventral incidence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B5368CF-05E9-B02E-027C-E60DC5B64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622" y="1072319"/>
            <a:ext cx="7822077" cy="568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6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6C6C-CFBF-D1D8-8A0A-D491459A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33831-F3CA-DB4E-B1AE-CE99DF3BD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B2E580-8D3A-8D3B-2820-5D8AE6C2027C}"/>
              </a:ext>
            </a:extLst>
          </p:cNvPr>
          <p:cNvSpPr txBox="1">
            <a:spLocks/>
          </p:cNvSpPr>
          <p:nvPr/>
        </p:nvSpPr>
        <p:spPr>
          <a:xfrm>
            <a:off x="838200" y="25678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Mesh size comparisons</a:t>
            </a:r>
          </a:p>
        </p:txBody>
      </p:sp>
    </p:spTree>
    <p:extLst>
      <p:ext uri="{BB962C8B-B14F-4D97-AF65-F5344CB8AC3E}">
        <p14:creationId xmlns:p14="http://schemas.microsoft.com/office/powerpoint/2010/main" val="3743658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3F4BC58-3539-5449-803F-29445BBE1CBF}"/>
              </a:ext>
            </a:extLst>
          </p:cNvPr>
          <p:cNvSpPr txBox="1"/>
          <p:nvPr/>
        </p:nvSpPr>
        <p:spPr>
          <a:xfrm>
            <a:off x="9343351" y="2973773"/>
            <a:ext cx="2666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7606CE-3416-E57F-97FA-08F66CE74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97" y="1337713"/>
            <a:ext cx="7168911" cy="45669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1A0500-3FB7-C21F-8037-7DE1E6DC6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864" y="1374320"/>
            <a:ext cx="7149478" cy="456478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1F9CCFE-7304-82CB-412B-FBCFAEF9767C}"/>
              </a:ext>
            </a:extLst>
          </p:cNvPr>
          <p:cNvSpPr/>
          <p:nvPr/>
        </p:nvSpPr>
        <p:spPr>
          <a:xfrm>
            <a:off x="4914900" y="1536700"/>
            <a:ext cx="292100" cy="63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3A7DCCA-5C80-1175-0DA1-69C7F57CE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61" t="3571" b="85841"/>
          <a:stretch>
            <a:fillRect/>
          </a:stretch>
        </p:blipFill>
        <p:spPr>
          <a:xfrm>
            <a:off x="9438477" y="274801"/>
            <a:ext cx="2476500" cy="48328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B47A595-D34D-0502-2B82-357861F98E5E}"/>
              </a:ext>
            </a:extLst>
          </p:cNvPr>
          <p:cNvSpPr/>
          <p:nvPr/>
        </p:nvSpPr>
        <p:spPr>
          <a:xfrm>
            <a:off x="9438477" y="274801"/>
            <a:ext cx="2571626" cy="678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F30C00-66E3-3297-D2BA-01800BD1ACD3}"/>
              </a:ext>
            </a:extLst>
          </p:cNvPr>
          <p:cNvSpPr/>
          <p:nvPr/>
        </p:nvSpPr>
        <p:spPr>
          <a:xfrm>
            <a:off x="10711590" y="1561408"/>
            <a:ext cx="2571626" cy="678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F7530EC-C58F-74F0-03A0-504DDAF42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49" t="3753" b="85118"/>
          <a:stretch>
            <a:fillRect/>
          </a:stretch>
        </p:blipFill>
        <p:spPr>
          <a:xfrm>
            <a:off x="4611289" y="6138090"/>
            <a:ext cx="2413000" cy="50800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E1DC398-14FD-D17D-4136-F92B1FFD8CB5}"/>
              </a:ext>
            </a:extLst>
          </p:cNvPr>
          <p:cNvSpPr/>
          <p:nvPr/>
        </p:nvSpPr>
        <p:spPr>
          <a:xfrm>
            <a:off x="5341237" y="1527628"/>
            <a:ext cx="617627" cy="678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9A670D9E-62A1-936C-BAE9-133EE7E2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55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Soft sphere</a:t>
            </a:r>
          </a:p>
        </p:txBody>
      </p:sp>
    </p:spTree>
    <p:extLst>
      <p:ext uri="{BB962C8B-B14F-4D97-AF65-F5344CB8AC3E}">
        <p14:creationId xmlns:p14="http://schemas.microsoft.com/office/powerpoint/2010/main" val="170763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A6D05-1BC4-7E8C-C288-97471A28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1FC3-959F-147D-AD8D-902FA43EC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0713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Rockfish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9387CD-B7A1-B67F-F727-BB462E82C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22" b="82437"/>
          <a:stretch>
            <a:fillRect/>
          </a:stretch>
        </p:blipFill>
        <p:spPr>
          <a:xfrm>
            <a:off x="3733014" y="1124850"/>
            <a:ext cx="1848382" cy="60821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360D5D7-EB68-56C3-832E-C50834545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592" y="1124850"/>
            <a:ext cx="6946065" cy="5668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8879A4-B916-88FC-44EA-2E4BDF77EF3A}"/>
              </a:ext>
            </a:extLst>
          </p:cNvPr>
          <p:cNvSpPr txBox="1"/>
          <p:nvPr/>
        </p:nvSpPr>
        <p:spPr>
          <a:xfrm>
            <a:off x="9058275" y="2527972"/>
            <a:ext cx="31337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NOTE</a:t>
            </a:r>
          </a:p>
          <a:p>
            <a:r>
              <a:rPr lang="en-US" dirty="0"/>
              <a:t>These distributions are for the mesh used for the highest frequency in the sweep.</a:t>
            </a:r>
          </a:p>
          <a:p>
            <a:endParaRPr lang="en-US" dirty="0"/>
          </a:p>
          <a:p>
            <a:r>
              <a:rPr lang="en-US" dirty="0"/>
              <a:t>I have not computed user-based mesh statistics for this one yet, but still interesting to see comparisons between fine and normal</a:t>
            </a:r>
          </a:p>
        </p:txBody>
      </p:sp>
    </p:spTree>
    <p:extLst>
      <p:ext uri="{BB962C8B-B14F-4D97-AF65-F5344CB8AC3E}">
        <p14:creationId xmlns:p14="http://schemas.microsoft.com/office/powerpoint/2010/main" val="3380250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315</Words>
  <Application>Microsoft Office PowerPoint</Application>
  <PresentationFormat>Widescreen</PresentationFormat>
  <Paragraphs>57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Acoustic scattering by spheres and swim bladders</vt:lpstr>
      <vt:lpstr>Spherical benchmark models</vt:lpstr>
      <vt:lpstr>PowerPoint Presentation</vt:lpstr>
      <vt:lpstr>PowerPoint Presentation</vt:lpstr>
      <vt:lpstr>Low frequency mismatches are ‘mostly’ resolved by making the domain size bigger</vt:lpstr>
      <vt:lpstr>For air sphere mismatch in resonance is also improved by making the domain size bigger.</vt:lpstr>
      <vt:lpstr>Fish and swim bladder models</vt:lpstr>
      <vt:lpstr>Rockfish: Dorso-ventral incidence</vt:lpstr>
      <vt:lpstr>Rockfish: Anterio-posterior incidence</vt:lpstr>
      <vt:lpstr>Rockfish: Lateral incidence</vt:lpstr>
      <vt:lpstr>Midshipman: Dorso-ventral incidence</vt:lpstr>
      <vt:lpstr>Midshipman: Anterio-posterior incidence</vt:lpstr>
      <vt:lpstr>Midshipman: Lateral incidence</vt:lpstr>
      <vt:lpstr>Midshipman-Rockfish dorsoventral incidence</vt:lpstr>
      <vt:lpstr>PowerPoint Presentation</vt:lpstr>
      <vt:lpstr>Soft sphere</vt:lpstr>
      <vt:lpstr>Rockfish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Chhaya</dc:creator>
  <cp:lastModifiedBy>Vaibhav Chhaya</cp:lastModifiedBy>
  <cp:revision>3</cp:revision>
  <dcterms:created xsi:type="dcterms:W3CDTF">2026-09-02T19:54:32Z</dcterms:created>
  <dcterms:modified xsi:type="dcterms:W3CDTF">2026-09-03T22:56:13Z</dcterms:modified>
</cp:coreProperties>
</file>