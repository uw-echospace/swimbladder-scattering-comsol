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71" r:id="rId5"/>
    <p:sldId id="272" r:id="rId6"/>
    <p:sldId id="276" r:id="rId7"/>
    <p:sldId id="273" r:id="rId8"/>
    <p:sldId id="265" r:id="rId9"/>
    <p:sldId id="281" r:id="rId10"/>
    <p:sldId id="261" r:id="rId11"/>
    <p:sldId id="279" r:id="rId12"/>
    <p:sldId id="259" r:id="rId13"/>
    <p:sldId id="278" r:id="rId14"/>
    <p:sldId id="274" r:id="rId15"/>
    <p:sldId id="277" r:id="rId16"/>
    <p:sldId id="268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B089C-E5F5-4AF6-BCED-83740ECC558B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E7486-8959-4F6F-9F01-3CD676182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82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E38B-ED28-2E38-2459-23FCA3D6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22B0F-6E45-7517-1CA9-6901FF9A5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CF2A9-F253-5461-8C4E-E0166E9C1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CE538-1B36-3797-9525-6C24693CE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E7486-8959-4F6F-9F01-3CD6761824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9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ACB0-688A-AAB7-37AE-8CAB6677B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B324B-4327-A495-5787-5B040B7B7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1F6ED-C5AF-2525-E156-3EF56710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8CB62-07D6-058C-C287-CF6B0B97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8B640-619C-D05D-EE5A-A03DDD44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17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705B-1726-E3B7-C978-9E1F4BE4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3EAB-338A-0FA7-6873-309A333A6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C8C28-154B-2355-16E8-88193139E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399EF-90F9-E93A-6E28-6D6EF124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8ECC8-1273-CB8D-D8AC-384A65C5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84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4557-42CA-4EDE-09A0-284E080CE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98921-6F85-717E-3D33-74B3DC76D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481AD-E431-B186-E1E4-4643CB88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342E5-13DA-874C-5A9F-9CFD2902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3144-BC5A-6A33-CAEC-93FE1ECE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CF5C-DA0F-43DC-FE45-79FB789B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BFB2-0FFA-8E12-4EDE-424F57362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49A1-9098-C305-546D-3B1A82CA8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6E970-8380-C34F-E85F-226B86A5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2BAA2-EEF0-06C0-9A65-C0E9765D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F3330-D819-0C7E-84B7-2595D77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20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863E7-0033-12D7-9C30-EFD5E50A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10B13-503C-92FE-D71C-F00F36AF9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D9A40-ED52-E1E7-4669-2DBEEF017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33427-DCA9-12C6-FA29-4E3D32197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6E7BA-3066-D6D7-70F6-D7A4F06DE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E63618-1530-1A3C-8971-9B2AE41F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64026-B4A8-B7FD-4161-3301FDDB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1EF92-D4A4-E2A0-70C4-50DF12B2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1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E89D-9864-6E09-6008-F2FBCA44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B2E10-FAD0-C5E9-5F2B-9FF933B0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5802A-0E2C-FD44-8E0E-F29EB081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3AF7D-760E-C010-58C0-8ACD1DF4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3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861B3-E3C0-1070-126C-45B8245C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C19E6-E0DC-A875-89A1-7B7E4ADC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58D67-0128-FD76-D7E1-C26ADE45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4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B2A0-C2FB-F2C3-EE0B-9628E251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ACBC1-8745-FD36-DFB6-5CDEF1081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A04C0-2826-52B9-44EA-5180E5C07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483AF-E230-2329-76E4-C74A9683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D625C-409B-86E6-5248-865DD542D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CFFF6-97D8-B3C7-2A4C-2179ED7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1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980A-A791-DCE4-EE71-2802965D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C03FF-514E-13CE-6BB2-0929288D6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87614-3C00-992B-284C-C8E9E2FB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F1986-8C01-D0E9-7118-45297676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B87A2-2610-AB9B-7EEE-64DE60D7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165E4-24BB-4BC1-9028-DD9428DB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7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9494-67CF-6052-26CB-48FE0804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2B335-372D-1F0C-56A7-1FD1F35C6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AD335-7FB8-C30D-4DAC-4E1494D1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09853-1B78-BFAC-4924-79F6D2E1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E7F6E-2752-E738-1791-16609F35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6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813C4-7CB3-0279-4AB8-0FBDFBC01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B79D7-C448-B25A-0933-C60F5AB7D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C7229-1225-7738-AF59-21A68105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AEE64-63F9-208A-1E97-EC218091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E8F56-B3B5-373A-37A2-277DC6DA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3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835FFC-E372-2841-FC57-0E460B701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1DD61-24FE-D281-D598-33A48B1D7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4E334-717F-EB79-8557-784E94DF7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79C6A-4182-494E-90F3-CB69799546E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9C40-7F7D-0FD3-3DB2-6402FBEB8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6C9CC-B283-D6BA-E89B-EF5302DBD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F6909-C26B-40F0-A35A-C7F537E3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2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9FDF-BF21-581F-3B4A-53E0D04C1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Acoustic scattering by spheres and swim bladders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F036A-F214-65B4-63F2-507F19052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5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AEB8-FEB7-84FC-DD37-4462595B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14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Spherical benchmark models</a:t>
            </a:r>
          </a:p>
        </p:txBody>
      </p:sp>
    </p:spTree>
    <p:extLst>
      <p:ext uri="{BB962C8B-B14F-4D97-AF65-F5344CB8AC3E}">
        <p14:creationId xmlns:p14="http://schemas.microsoft.com/office/powerpoint/2010/main" val="3666833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E62E619-EB67-C176-93ED-13688ECEA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054" y="317336"/>
            <a:ext cx="9497798" cy="63568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2AC098-41B5-11C2-9A31-F9A1B4C418BF}"/>
              </a:ext>
            </a:extLst>
          </p:cNvPr>
          <p:cNvSpPr/>
          <p:nvPr/>
        </p:nvSpPr>
        <p:spPr>
          <a:xfrm>
            <a:off x="6923099" y="3428752"/>
            <a:ext cx="3237221" cy="12173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B586-93A3-1A9C-3DE3-E226DCD9B0C3}"/>
              </a:ext>
            </a:extLst>
          </p:cNvPr>
          <p:cNvSpPr txBox="1"/>
          <p:nvPr/>
        </p:nvSpPr>
        <p:spPr>
          <a:xfrm>
            <a:off x="6986919" y="3428752"/>
            <a:ext cx="3885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Radius of scatterer: </a:t>
            </a:r>
            <a:r>
              <a:rPr lang="en-US" dirty="0"/>
              <a:t>2.5 cm</a:t>
            </a:r>
          </a:p>
          <a:p>
            <a:r>
              <a:rPr lang="en-US" b="1" dirty="0"/>
              <a:t>Radius of domain: </a:t>
            </a:r>
            <a:r>
              <a:rPr lang="en-US" dirty="0"/>
              <a:t>4.5 cm</a:t>
            </a:r>
          </a:p>
          <a:p>
            <a:r>
              <a:rPr lang="en-US" b="1" dirty="0"/>
              <a:t>PML thickness: </a:t>
            </a:r>
            <a:r>
              <a:rPr lang="en-US" dirty="0"/>
              <a:t>1 cm</a:t>
            </a:r>
          </a:p>
          <a:p>
            <a:r>
              <a:rPr lang="en-US" b="1" dirty="0"/>
              <a:t>Physics-based mesh: </a:t>
            </a:r>
            <a:r>
              <a:rPr lang="en-US" dirty="0"/>
              <a:t>Fine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869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7B8C932-2E72-2021-3D99-8BE179954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134" y="365125"/>
            <a:ext cx="9217901" cy="62603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61BAB4-86BE-15F2-B238-A0E5806D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4F72C-59A8-41DB-6BCE-446450D1BE9B}"/>
              </a:ext>
            </a:extLst>
          </p:cNvPr>
          <p:cNvSpPr/>
          <p:nvPr/>
        </p:nvSpPr>
        <p:spPr>
          <a:xfrm>
            <a:off x="6746818" y="1345952"/>
            <a:ext cx="3237221" cy="12173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67D495-1D99-8BAD-62CE-C583D8017C99}"/>
              </a:ext>
            </a:extLst>
          </p:cNvPr>
          <p:cNvSpPr txBox="1"/>
          <p:nvPr/>
        </p:nvSpPr>
        <p:spPr>
          <a:xfrm>
            <a:off x="6838008" y="1342148"/>
            <a:ext cx="3885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Radius of scatterer: </a:t>
            </a:r>
            <a:r>
              <a:rPr lang="en-US" dirty="0"/>
              <a:t>2.5 cm</a:t>
            </a:r>
          </a:p>
          <a:p>
            <a:r>
              <a:rPr lang="en-US" b="1" dirty="0"/>
              <a:t>Radius of domain: </a:t>
            </a:r>
            <a:r>
              <a:rPr lang="en-US" dirty="0"/>
              <a:t>4.5 cm</a:t>
            </a:r>
          </a:p>
          <a:p>
            <a:r>
              <a:rPr lang="en-US" b="1" dirty="0"/>
              <a:t>PML thickness: </a:t>
            </a:r>
            <a:r>
              <a:rPr lang="en-US" dirty="0"/>
              <a:t>1 cm</a:t>
            </a:r>
          </a:p>
          <a:p>
            <a:r>
              <a:rPr lang="en-US" b="1" dirty="0"/>
              <a:t>Physics-based mesh: </a:t>
            </a:r>
            <a:r>
              <a:rPr lang="en-US" dirty="0"/>
              <a:t>Fine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488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FF6A-628C-13E4-8573-3CAF6BC0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Low frequency mismatches are ‘mostly’ resolved by making the domain size bigger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C7AF5-D7B2-B16D-009B-4662BB5AF24D}"/>
              </a:ext>
            </a:extLst>
          </p:cNvPr>
          <p:cNvSpPr txBox="1"/>
          <p:nvPr/>
        </p:nvSpPr>
        <p:spPr>
          <a:xfrm>
            <a:off x="8220173" y="2630078"/>
            <a:ext cx="38712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:</a:t>
            </a:r>
          </a:p>
          <a:p>
            <a:pPr marL="342900" indent="-342900">
              <a:buAutoNum type="arabicParenR"/>
            </a:pPr>
            <a:r>
              <a:rPr lang="en-US" sz="2000" dirty="0"/>
              <a:t>The limits on the y-axis are different compared to the previous soft sphere plot to see differences more clearly</a:t>
            </a:r>
          </a:p>
          <a:p>
            <a:pPr marL="342900" indent="-342900">
              <a:buAutoNum type="arabicParenR"/>
            </a:pPr>
            <a:r>
              <a:rPr lang="en-US" sz="2000" dirty="0"/>
              <a:t>These simulations only focus on the low frequency region where the mismatches were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B0E9F0-57EF-465D-BC32-61B44D616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13" y="1646762"/>
            <a:ext cx="7326694" cy="497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8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B6365E-8426-F606-22CC-266B23CE6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070" y="331525"/>
            <a:ext cx="9418374" cy="639653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5E6D467-C14B-5CB8-6C04-543A1FC9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0" y="977900"/>
            <a:ext cx="4191000" cy="1879600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For air sphere mismatch in resonance is also improved by making the domain size bigger.</a:t>
            </a:r>
          </a:p>
        </p:txBody>
      </p:sp>
    </p:spTree>
    <p:extLst>
      <p:ext uri="{BB962C8B-B14F-4D97-AF65-F5344CB8AC3E}">
        <p14:creationId xmlns:p14="http://schemas.microsoft.com/office/powerpoint/2010/main" val="185874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7C7F6-9593-4684-BD7E-A7D27EC0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0" y="2624931"/>
            <a:ext cx="7467600" cy="1325563"/>
          </a:xfrm>
        </p:spPr>
        <p:txBody>
          <a:bodyPr/>
          <a:lstStyle/>
          <a:p>
            <a:r>
              <a:rPr lang="en-US" b="1" dirty="0"/>
              <a:t>Fish and swim bladder models</a:t>
            </a:r>
          </a:p>
        </p:txBody>
      </p:sp>
    </p:spTree>
    <p:extLst>
      <p:ext uri="{BB962C8B-B14F-4D97-AF65-F5344CB8AC3E}">
        <p14:creationId xmlns:p14="http://schemas.microsoft.com/office/powerpoint/2010/main" val="2081277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DDFA-4D13-9169-EAE8-85176C42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465EB0E-3127-6E31-092F-5394ACF0D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" b="-3639"/>
          <a:stretch>
            <a:fillRect/>
          </a:stretch>
        </p:blipFill>
        <p:spPr>
          <a:xfrm>
            <a:off x="730228" y="1316494"/>
            <a:ext cx="4257104" cy="3680070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06C3F-1A6C-FABD-C320-A3A75F727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862" y="-191377"/>
            <a:ext cx="10515600" cy="1325563"/>
          </a:xfrm>
        </p:spPr>
        <p:txBody>
          <a:bodyPr/>
          <a:lstStyle/>
          <a:p>
            <a:r>
              <a:rPr lang="en-US" dirty="0"/>
              <a:t>Rockfish: Dorso-ventral incidence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1CA36-8518-630E-7613-754A13AFD641}"/>
              </a:ext>
            </a:extLst>
          </p:cNvPr>
          <p:cNvSpPr txBox="1"/>
          <p:nvPr/>
        </p:nvSpPr>
        <p:spPr>
          <a:xfrm>
            <a:off x="532267" y="5158588"/>
            <a:ext cx="3905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 domain radius: </a:t>
            </a:r>
            <a:r>
              <a:rPr lang="en-US" dirty="0"/>
              <a:t>15 cm</a:t>
            </a:r>
            <a:endParaRPr lang="en-US" b="1" dirty="0"/>
          </a:p>
          <a:p>
            <a:r>
              <a:rPr lang="en-US" b="1" dirty="0"/>
              <a:t>PML thickness: </a:t>
            </a:r>
            <a:r>
              <a:rPr lang="en-US" dirty="0"/>
              <a:t>2.5 cm</a:t>
            </a:r>
            <a:endParaRPr lang="en-US" b="1" dirty="0"/>
          </a:p>
          <a:p>
            <a:r>
              <a:rPr lang="en-US" b="1" dirty="0"/>
              <a:t>Volume-equivalent spherical radius</a:t>
            </a:r>
          </a:p>
          <a:p>
            <a:r>
              <a:rPr lang="en-US" b="1" dirty="0"/>
              <a:t>of swim bladder</a:t>
            </a:r>
            <a:r>
              <a:rPr lang="en-US" dirty="0"/>
              <a:t>: 1.4 cm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1CB73E9-79A6-A8C0-4467-C2B3684B6A75}"/>
              </a:ext>
            </a:extLst>
          </p:cNvPr>
          <p:cNvSpPr/>
          <p:nvPr/>
        </p:nvSpPr>
        <p:spPr>
          <a:xfrm rot="5400000">
            <a:off x="2227949" y="214586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A1D5312-30F2-F94E-ACAB-BF5D4B2EC01E}"/>
              </a:ext>
            </a:extLst>
          </p:cNvPr>
          <p:cNvSpPr/>
          <p:nvPr/>
        </p:nvSpPr>
        <p:spPr>
          <a:xfrm rot="5400000">
            <a:off x="2512426" y="214586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B6E4A32-3814-E5E5-C545-FC3EA5A9B877}"/>
              </a:ext>
            </a:extLst>
          </p:cNvPr>
          <p:cNvSpPr/>
          <p:nvPr/>
        </p:nvSpPr>
        <p:spPr>
          <a:xfrm rot="5400000">
            <a:off x="1922612" y="2145865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E3D97-F168-FAB5-F87C-E73ED9852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992" y="1019413"/>
            <a:ext cx="7049741" cy="533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05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3C3F-DC3A-B580-6998-1BFC6539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F2EA90-C585-379E-B103-8E1CB6C7B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45" y="174396"/>
            <a:ext cx="5066930" cy="5386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7410EB-EAB4-BF2A-2C4B-44FDDF251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587" y="174396"/>
            <a:ext cx="5187520" cy="55146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242EE0-E970-424C-9B5F-82ECDA3DF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036523">
            <a:off x="220417" y="3888545"/>
            <a:ext cx="6077175" cy="455788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2895B1-D634-665A-D270-7D6878611638}"/>
              </a:ext>
            </a:extLst>
          </p:cNvPr>
          <p:cNvCxnSpPr>
            <a:cxnSpLocks/>
          </p:cNvCxnSpPr>
          <p:nvPr/>
        </p:nvCxnSpPr>
        <p:spPr>
          <a:xfrm flipV="1">
            <a:off x="2837468" y="5879805"/>
            <a:ext cx="0" cy="803799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18517EF2-0F73-2099-F2E4-1DDD23CE4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036523">
            <a:off x="6667472" y="3888545"/>
            <a:ext cx="6077175" cy="455788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33A831-DC7A-7B6F-9446-687027E808FB}"/>
              </a:ext>
            </a:extLst>
          </p:cNvPr>
          <p:cNvCxnSpPr>
            <a:cxnSpLocks/>
          </p:cNvCxnSpPr>
          <p:nvPr/>
        </p:nvCxnSpPr>
        <p:spPr>
          <a:xfrm flipH="1">
            <a:off x="7635775" y="6289609"/>
            <a:ext cx="3944332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03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6DBA2-D0B3-CC2B-71D8-B59F3221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FAB9D-BE6B-A557-BF10-6CB104958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344" y="-42714"/>
            <a:ext cx="10515600" cy="1325563"/>
          </a:xfrm>
        </p:spPr>
        <p:txBody>
          <a:bodyPr/>
          <a:lstStyle/>
          <a:p>
            <a:r>
              <a:rPr lang="en-US" dirty="0"/>
              <a:t>Midshipman: Dorso-ventral incidence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C58320FF-FC91-35BE-338B-0D8478CF4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609"/>
          <a:stretch>
            <a:fillRect/>
          </a:stretch>
        </p:blipFill>
        <p:spPr>
          <a:xfrm>
            <a:off x="335594" y="969491"/>
            <a:ext cx="507026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5F607F-4A5F-D15E-8060-BE1B2E70023E}"/>
              </a:ext>
            </a:extLst>
          </p:cNvPr>
          <p:cNvSpPr txBox="1"/>
          <p:nvPr/>
        </p:nvSpPr>
        <p:spPr>
          <a:xfrm>
            <a:off x="730230" y="5394034"/>
            <a:ext cx="3905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Water domain radius: </a:t>
            </a:r>
            <a:r>
              <a:rPr lang="en-US" dirty="0"/>
              <a:t>2 cm</a:t>
            </a:r>
            <a:endParaRPr lang="en-US" b="1" dirty="0"/>
          </a:p>
          <a:p>
            <a:r>
              <a:rPr lang="en-US" b="1" dirty="0"/>
              <a:t>PML thickness: </a:t>
            </a:r>
            <a:r>
              <a:rPr lang="en-US" dirty="0"/>
              <a:t>0.5 cm</a:t>
            </a:r>
            <a:endParaRPr lang="en-US" b="1" dirty="0"/>
          </a:p>
          <a:p>
            <a:r>
              <a:rPr lang="en-US" b="1" dirty="0"/>
              <a:t>Volume-equivalent spherical radius</a:t>
            </a:r>
          </a:p>
          <a:p>
            <a:r>
              <a:rPr lang="en-US" b="1" dirty="0"/>
              <a:t>of swim bladder</a:t>
            </a:r>
            <a:r>
              <a:rPr lang="en-US" dirty="0"/>
              <a:t>: 0.52 cm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B564273-EFB8-BA7E-2336-F2A4DBA8BA21}"/>
              </a:ext>
            </a:extLst>
          </p:cNvPr>
          <p:cNvSpPr/>
          <p:nvPr/>
        </p:nvSpPr>
        <p:spPr>
          <a:xfrm rot="5400000">
            <a:off x="2227949" y="214586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C17A5E5-5BF5-984A-B958-6B9957EE952C}"/>
              </a:ext>
            </a:extLst>
          </p:cNvPr>
          <p:cNvSpPr/>
          <p:nvPr/>
        </p:nvSpPr>
        <p:spPr>
          <a:xfrm rot="5400000">
            <a:off x="2512426" y="2145863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F5C385-7EAC-A62C-AA79-B2C9EE1EA5C0}"/>
              </a:ext>
            </a:extLst>
          </p:cNvPr>
          <p:cNvSpPr/>
          <p:nvPr/>
        </p:nvSpPr>
        <p:spPr>
          <a:xfrm rot="5400000">
            <a:off x="1922612" y="2145865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8F844A-E60F-6FB4-7BA4-244188855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739" y="1282849"/>
            <a:ext cx="6955703" cy="517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57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D2CF-005B-C201-71C7-3F22062B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FCF26A7-2421-18D2-E4CD-5A38FE50A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42" y="123826"/>
            <a:ext cx="4893281" cy="51997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A5E602-F31A-6395-49C0-E1ACD6FDD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481" y="77045"/>
            <a:ext cx="5050819" cy="53671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0FB58D-6EDD-4E77-16C1-ECCDD007A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45988" y="5035209"/>
            <a:ext cx="3158946" cy="236920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200708-9F1E-215C-C6FF-C3D8B5FCFE32}"/>
              </a:ext>
            </a:extLst>
          </p:cNvPr>
          <p:cNvCxnSpPr>
            <a:cxnSpLocks/>
          </p:cNvCxnSpPr>
          <p:nvPr/>
        </p:nvCxnSpPr>
        <p:spPr>
          <a:xfrm flipV="1">
            <a:off x="3142268" y="5511505"/>
            <a:ext cx="0" cy="1168695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F990033-C5F0-76CC-459B-8956DF845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581690" y="5213009"/>
            <a:ext cx="3158946" cy="236920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ADE101-4412-9ECC-80A3-6155F5F49BCA}"/>
              </a:ext>
            </a:extLst>
          </p:cNvPr>
          <p:cNvCxnSpPr>
            <a:cxnSpLocks/>
          </p:cNvCxnSpPr>
          <p:nvPr/>
        </p:nvCxnSpPr>
        <p:spPr>
          <a:xfrm flipH="1">
            <a:off x="8204200" y="6219813"/>
            <a:ext cx="2297744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34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3150-C308-3606-0CA0-E42120DD9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-196925"/>
            <a:ext cx="10515600" cy="1325563"/>
          </a:xfrm>
        </p:spPr>
        <p:txBody>
          <a:bodyPr/>
          <a:lstStyle/>
          <a:p>
            <a:r>
              <a:rPr lang="en-US" dirty="0"/>
              <a:t>Midshipman-Rockfish dorsoventral incidence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B5368CF-05E9-B02E-027C-E60DC5B64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622" y="1072319"/>
            <a:ext cx="7822077" cy="568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63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D306-C0C9-EB20-6ADD-CBA522A3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7B212-B073-3BC9-BFB9-74764E04D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35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6C6C-CFBF-D1D8-8A0A-D491459A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33831-F3CA-DB4E-B1AE-CE99DF3BD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B2E580-8D3A-8D3B-2820-5D8AE6C2027C}"/>
              </a:ext>
            </a:extLst>
          </p:cNvPr>
          <p:cNvSpPr txBox="1">
            <a:spLocks/>
          </p:cNvSpPr>
          <p:nvPr/>
        </p:nvSpPr>
        <p:spPr>
          <a:xfrm>
            <a:off x="838200" y="25678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Mesh size comparisons</a:t>
            </a:r>
          </a:p>
        </p:txBody>
      </p:sp>
    </p:spTree>
    <p:extLst>
      <p:ext uri="{BB962C8B-B14F-4D97-AF65-F5344CB8AC3E}">
        <p14:creationId xmlns:p14="http://schemas.microsoft.com/office/powerpoint/2010/main" val="3743658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B561-4EA1-54D5-BF87-E08B1A27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EE4CFF4-3CF8-EB6F-CB27-B0DAC9935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294" y="1740620"/>
            <a:ext cx="5679271" cy="39960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46336E-12F0-A0B0-EAB2-296C6C929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35" y="1626259"/>
            <a:ext cx="5631244" cy="4110397"/>
          </a:xfrm>
          <a:prstGeom prst="rect">
            <a:avLst/>
          </a:prstGeom>
        </p:spPr>
      </p:pic>
      <p:sp>
        <p:nvSpPr>
          <p:cNvPr id="20" name="Title 37">
            <a:extLst>
              <a:ext uri="{FF2B5EF4-FFF2-40B4-BE49-F238E27FC236}">
                <a16:creationId xmlns:a16="http://schemas.microsoft.com/office/drawing/2014/main" id="{82D14E78-2059-5801-461C-344EA57E17F2}"/>
              </a:ext>
            </a:extLst>
          </p:cNvPr>
          <p:cNvSpPr txBox="1">
            <a:spLocks/>
          </p:cNvSpPr>
          <p:nvPr/>
        </p:nvSpPr>
        <p:spPr>
          <a:xfrm>
            <a:off x="691879" y="1423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/>
              <a:t>Soft sphere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3412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3F4BC58-3539-5449-803F-29445BBE1CBF}"/>
              </a:ext>
            </a:extLst>
          </p:cNvPr>
          <p:cNvSpPr txBox="1"/>
          <p:nvPr/>
        </p:nvSpPr>
        <p:spPr>
          <a:xfrm>
            <a:off x="9343351" y="2973773"/>
            <a:ext cx="2666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7606CE-3416-E57F-97FA-08F66CE74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97" y="1337713"/>
            <a:ext cx="7168911" cy="45669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1A0500-3FB7-C21F-8037-7DE1E6DC6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864" y="1374320"/>
            <a:ext cx="7149478" cy="456478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1F9CCFE-7304-82CB-412B-FBCFAEF9767C}"/>
              </a:ext>
            </a:extLst>
          </p:cNvPr>
          <p:cNvSpPr/>
          <p:nvPr/>
        </p:nvSpPr>
        <p:spPr>
          <a:xfrm>
            <a:off x="4914900" y="1536700"/>
            <a:ext cx="292100" cy="635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3A7DCCA-5C80-1175-0DA1-69C7F57CE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61" t="3571" b="85841"/>
          <a:stretch>
            <a:fillRect/>
          </a:stretch>
        </p:blipFill>
        <p:spPr>
          <a:xfrm>
            <a:off x="9438477" y="274801"/>
            <a:ext cx="2476500" cy="48328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B47A595-D34D-0502-2B82-357861F98E5E}"/>
              </a:ext>
            </a:extLst>
          </p:cNvPr>
          <p:cNvSpPr/>
          <p:nvPr/>
        </p:nvSpPr>
        <p:spPr>
          <a:xfrm>
            <a:off x="9438477" y="274801"/>
            <a:ext cx="2571626" cy="678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F30C00-66E3-3297-D2BA-01800BD1ACD3}"/>
              </a:ext>
            </a:extLst>
          </p:cNvPr>
          <p:cNvSpPr/>
          <p:nvPr/>
        </p:nvSpPr>
        <p:spPr>
          <a:xfrm>
            <a:off x="10711590" y="1561408"/>
            <a:ext cx="2571626" cy="678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F7530EC-C58F-74F0-03A0-504DDAF42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49" t="3753" b="85118"/>
          <a:stretch>
            <a:fillRect/>
          </a:stretch>
        </p:blipFill>
        <p:spPr>
          <a:xfrm>
            <a:off x="4611289" y="6138090"/>
            <a:ext cx="2413000" cy="508001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E1DC398-14FD-D17D-4136-F92B1FFD8CB5}"/>
              </a:ext>
            </a:extLst>
          </p:cNvPr>
          <p:cNvSpPr/>
          <p:nvPr/>
        </p:nvSpPr>
        <p:spPr>
          <a:xfrm>
            <a:off x="5341237" y="1527628"/>
            <a:ext cx="617627" cy="678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9A670D9E-62A1-936C-BAE9-133EE7E2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55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Soft sphere</a:t>
            </a:r>
          </a:p>
        </p:txBody>
      </p:sp>
    </p:spTree>
    <p:extLst>
      <p:ext uri="{BB962C8B-B14F-4D97-AF65-F5344CB8AC3E}">
        <p14:creationId xmlns:p14="http://schemas.microsoft.com/office/powerpoint/2010/main" val="170763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A6D05-1BC4-7E8C-C288-97471A28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1FC3-959F-147D-AD8D-902FA43EC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0713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Rockfish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9387CD-B7A1-B67F-F727-BB462E82C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22" b="82437"/>
          <a:stretch>
            <a:fillRect/>
          </a:stretch>
        </p:blipFill>
        <p:spPr>
          <a:xfrm>
            <a:off x="3733014" y="1124850"/>
            <a:ext cx="1848382" cy="60821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360D5D7-EB68-56C3-832E-C50834545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592" y="1124850"/>
            <a:ext cx="6946065" cy="5668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8879A4-B916-88FC-44EA-2E4BDF77EF3A}"/>
              </a:ext>
            </a:extLst>
          </p:cNvPr>
          <p:cNvSpPr txBox="1"/>
          <p:nvPr/>
        </p:nvSpPr>
        <p:spPr>
          <a:xfrm>
            <a:off x="9058275" y="2527972"/>
            <a:ext cx="31337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NOTE</a:t>
            </a:r>
          </a:p>
          <a:p>
            <a:r>
              <a:rPr lang="en-US" dirty="0"/>
              <a:t>These distributions are for the mesh used for the highest frequency in the sweep.</a:t>
            </a:r>
          </a:p>
          <a:p>
            <a:endParaRPr lang="en-US" dirty="0"/>
          </a:p>
          <a:p>
            <a:r>
              <a:rPr lang="en-US" dirty="0"/>
              <a:t>I have not computed user-based mesh statistics for this one yet, but still interesting to see comparisons between fine and normal</a:t>
            </a:r>
          </a:p>
        </p:txBody>
      </p:sp>
    </p:spTree>
    <p:extLst>
      <p:ext uri="{BB962C8B-B14F-4D97-AF65-F5344CB8AC3E}">
        <p14:creationId xmlns:p14="http://schemas.microsoft.com/office/powerpoint/2010/main" val="3380250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</TotalTime>
  <Words>219</Words>
  <Application>Microsoft Office PowerPoint</Application>
  <PresentationFormat>Widescreen</PresentationFormat>
  <Paragraphs>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Acoustic scattering by spheres and swim bladders</vt:lpstr>
      <vt:lpstr>Spherical benchmark models</vt:lpstr>
      <vt:lpstr>PowerPoint Presentation</vt:lpstr>
      <vt:lpstr>PowerPoint Presentation</vt:lpstr>
      <vt:lpstr>Low frequency mismatches are ‘mostly’ resolved by making the domain size bigger</vt:lpstr>
      <vt:lpstr>For air sphere mismatch in resonance is also improved by making the domain size bigger.</vt:lpstr>
      <vt:lpstr>Fish and swim bladder models</vt:lpstr>
      <vt:lpstr>Rockfish: Dorso-ventral incidence</vt:lpstr>
      <vt:lpstr>PowerPoint Presentation</vt:lpstr>
      <vt:lpstr>Midshipman: Dorso-ventral incidence</vt:lpstr>
      <vt:lpstr>PowerPoint Presentation</vt:lpstr>
      <vt:lpstr>Midshipman-Rockfish dorsoventral incidence</vt:lpstr>
      <vt:lpstr>PowerPoint Presentation</vt:lpstr>
      <vt:lpstr>PowerPoint Presentation</vt:lpstr>
      <vt:lpstr>PowerPoint Presentation</vt:lpstr>
      <vt:lpstr>Soft sphere</vt:lpstr>
      <vt:lpstr>Rockfish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Chhaya</dc:creator>
  <cp:lastModifiedBy>Vaibhav Chhaya</cp:lastModifiedBy>
  <cp:revision>7</cp:revision>
  <dcterms:created xsi:type="dcterms:W3CDTF">2026-09-02T19:54:32Z</dcterms:created>
  <dcterms:modified xsi:type="dcterms:W3CDTF">2026-09-22T17:57:58Z</dcterms:modified>
</cp:coreProperties>
</file>