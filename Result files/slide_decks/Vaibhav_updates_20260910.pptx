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7" r:id="rId5"/>
    <p:sldId id="262" r:id="rId6"/>
    <p:sldId id="260" r:id="rId7"/>
    <p:sldId id="261" r:id="rId8"/>
    <p:sldId id="263" r:id="rId9"/>
    <p:sldId id="258" r:id="rId10"/>
    <p:sldId id="264" r:id="rId11"/>
    <p:sldId id="259" r:id="rId12"/>
    <p:sldId id="265" r:id="rId13"/>
    <p:sldId id="266" r:id="rId14"/>
    <p:sldId id="267" r:id="rId15"/>
    <p:sldId id="269" r:id="rId16"/>
    <p:sldId id="268" r:id="rId17"/>
    <p:sldId id="270" r:id="rId18"/>
    <p:sldId id="271" r:id="rId19"/>
    <p:sldId id="273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5627B-090B-4218-AA4C-F503E2E2D7A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A7D77-2517-4618-AC4A-9C666A2FB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88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A7D77-2517-4618-AC4A-9C666A2FB7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00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3EAB-E395-50AC-CDA1-5E010353B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9D3AD-055F-9B3E-B055-EEF2B809D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4EBC8-7882-B5AC-B876-67DCC0CE4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6F1A1-9E97-C341-EE0C-BDB3F77AE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A7D77-2517-4618-AC4A-9C666A2FB7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57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882DE-BF45-EAA4-3C19-FA27C90E5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885F-15A1-5323-9FA9-D99E6B7E7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5ADD9-B11F-025D-32F2-23D34A1D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6AA7D-D32D-A5C4-94A0-3D48AAD5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75C5D-3F9C-E736-999E-FB8B67E86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3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87E7-0568-8499-3CB3-2CB62095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8F4B3-0A41-217B-2E7D-C4D7D20C3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3B9D1-5A51-FFBC-C43F-87BD9C72F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40FF-4AEB-673A-5096-724CDD268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2FBBC-1FED-02A7-723B-1CB22B333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28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E7A6F-36DC-A5BB-3714-053AA2299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912F5-4AA2-EB78-EB2E-1F52F7A5C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D4B9-6749-AEF1-76E8-BC2BA07DA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A091B-F284-4197-993B-9D60E262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773A5-9C93-3FED-FDB5-09523E7A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9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2BFB-BFC6-D53A-C0F5-33B43E82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7CFEF-CDF0-9C09-454F-AF05B8D26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66C10-79EC-CE92-BDDC-B0CF45C9F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7F3ED-5004-3849-DB19-9A9806090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34035-2988-028C-E84F-44FE9F94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F618F-7C36-28BC-1DAC-5C3B75F0F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3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DFB5A-C5BD-2A91-DDD3-5B5AB0416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7A2ED-CEE8-B223-7407-721E863A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7E4B5-E0EC-C060-A9A2-72C911DF5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F43B3-7E2D-0974-B670-A6F97D764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6A0B8-C490-C9A6-E686-81D2E87FFB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A1BAD1-11B5-CB12-1BB5-BEC897342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78F5E-62F2-9286-5826-F72A6B01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0BE8E-18E4-65BF-4992-C22C82011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F0AB-309C-3DDC-D8D9-934AE13A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78A94-916D-A7DA-5E12-0BC0A4F79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092F9-FF19-8D8F-185A-ABB4ECF27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4D4CB-6D67-28ED-83D6-83E5619D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6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F09453-D379-B42D-6406-CC7053AE6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4D19D-87C9-126C-117B-48C8DF48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91A61-5DF4-D122-0100-94EDF90D7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98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89EF-A042-5158-979D-9D6D78E39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C03D3-19DD-DC58-3129-A3396718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4916E-4A3C-507F-0A24-1B3EC8BE9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701CE-DBFE-6019-3B3B-F12E16E95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60559-BFCB-D899-9DE0-77E76A96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6B8C1-4220-93A9-D035-41C65AE3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12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F16C-1E7B-E7C0-B671-52BF8D2B7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433CDF-B53E-5C59-D98F-0285A133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1713E-1387-0F97-7DB8-9CE00A993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773A9-159F-CA43-AE33-5755E0D2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E917F-BC86-F6AF-EA7F-8EAF8D57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E8CEA-0F2D-7756-CCE9-A09BA34DC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4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8543-DF8E-308E-71D5-F3D0614EF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22E9A-93CC-3C67-48B5-DB65EAB1B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C2D87-BBBF-5C20-C467-096448A6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62B56-8ED1-8376-48A2-C1E8A580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DE18F-AD9B-2808-D274-E41928401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6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19703E-2AD4-A3BA-DC06-CEF98FACE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972C7-948D-EE24-9435-EA85F5EF9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2C9A9-BE7B-0D0E-3CCA-522F85D2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1703-FEB9-16F1-509D-CD1839A2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43B1D-011B-C473-D3D9-5FC94273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9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335F9F-E928-0F48-F3D1-907903CBD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1A0A4-8025-C0B3-0495-2C63FEED5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9869B-A682-3FB9-1993-6EED2BC96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76BB8-9C9E-42D3-8664-ED2DC3F49C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F975A-999D-15CC-B328-CF34B7D84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7593E-1C31-89B5-F3A3-6FD23DACD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4497B2-C82F-4F46-80DE-AEF0B5EE4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9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9FDF-BF21-581F-3B4A-53E0D04C11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Acoustic scattering by spheres and swim bladders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F036A-F214-65B4-63F2-507F19052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57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65505-B9AF-D9EC-4F6A-5A4352EB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C1CFA46-2068-1222-A4CA-2720E0842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04" y="199653"/>
            <a:ext cx="9797796" cy="64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0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A291-05EA-EE71-37ED-CB40FF87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41E39-7075-0C46-D390-DFC63AC31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382" y="250095"/>
            <a:ext cx="9715235" cy="63578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B1FE1F-3DDD-0163-12EA-0DCCA3E288C2}"/>
              </a:ext>
            </a:extLst>
          </p:cNvPr>
          <p:cNvSpPr txBox="1"/>
          <p:nvPr/>
        </p:nvSpPr>
        <p:spPr>
          <a:xfrm>
            <a:off x="2887979" y="1994432"/>
            <a:ext cx="3208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Mismatch does not reduce on increasing domain radius</a:t>
            </a:r>
          </a:p>
        </p:txBody>
      </p:sp>
    </p:spTree>
    <p:extLst>
      <p:ext uri="{BB962C8B-B14F-4D97-AF65-F5344CB8AC3E}">
        <p14:creationId xmlns:p14="http://schemas.microsoft.com/office/powerpoint/2010/main" val="3433578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3F0D-C10A-954D-E1F2-385B5A57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D93FDC-80B5-09DA-0029-45B460B51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924" y="525462"/>
            <a:ext cx="8809296" cy="580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25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080A-675E-1B8B-F97D-156FD2F58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A536B6-5BE9-08DF-986D-7CC1DE85C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374" y="365125"/>
            <a:ext cx="9295758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234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60656-6F04-8834-2103-5667A9099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8391" y="-319093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7E9A877-0AF6-3FDF-7370-F213ED376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713" y="470749"/>
            <a:ext cx="8839884" cy="59165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117D87-8027-0BCD-F488-5F22C4D289BC}"/>
              </a:ext>
            </a:extLst>
          </p:cNvPr>
          <p:cNvSpPr txBox="1"/>
          <p:nvPr/>
        </p:nvSpPr>
        <p:spPr>
          <a:xfrm>
            <a:off x="6362452" y="3338847"/>
            <a:ext cx="388585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Radius of scatterer: </a:t>
            </a:r>
            <a:r>
              <a:rPr lang="en-US" dirty="0"/>
              <a:t>2.5 cm</a:t>
            </a:r>
          </a:p>
          <a:p>
            <a:r>
              <a:rPr lang="en-US" b="1" dirty="0"/>
              <a:t>Thickness of shell:</a:t>
            </a:r>
            <a:r>
              <a:rPr lang="en-US" dirty="0"/>
              <a:t> 1 cm</a:t>
            </a:r>
          </a:p>
          <a:p>
            <a:r>
              <a:rPr lang="en-US" b="1" dirty="0"/>
              <a:t>Radius of domain: </a:t>
            </a:r>
            <a:r>
              <a:rPr lang="en-US" dirty="0"/>
              <a:t>4.5 cm</a:t>
            </a:r>
          </a:p>
          <a:p>
            <a:r>
              <a:rPr lang="en-US" b="1" dirty="0"/>
              <a:t>PML thickness: </a:t>
            </a:r>
            <a:r>
              <a:rPr lang="en-US" dirty="0"/>
              <a:t>1 cm</a:t>
            </a:r>
          </a:p>
          <a:p>
            <a:r>
              <a:rPr lang="en-US" b="1" dirty="0"/>
              <a:t>Physics-based mesh: </a:t>
            </a:r>
            <a:r>
              <a:rPr lang="en-US" dirty="0"/>
              <a:t>Normal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2091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915FA-9D50-591F-E47A-A7D6549A2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7E8365-45E1-26AC-D1DC-E0CB3CAF4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50" y="0"/>
            <a:ext cx="10073927" cy="6575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BBB65C-07B9-8B14-D438-A1B1BBE5C17D}"/>
              </a:ext>
            </a:extLst>
          </p:cNvPr>
          <p:cNvSpPr txBox="1"/>
          <p:nvPr/>
        </p:nvSpPr>
        <p:spPr>
          <a:xfrm>
            <a:off x="6362452" y="3338847"/>
            <a:ext cx="3885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Radius of scatterer: </a:t>
            </a:r>
            <a:r>
              <a:rPr lang="en-US" dirty="0"/>
              <a:t>0.25 cm</a:t>
            </a:r>
          </a:p>
          <a:p>
            <a:r>
              <a:rPr lang="en-US" b="1" dirty="0"/>
              <a:t>Radius of domain: </a:t>
            </a:r>
            <a:r>
              <a:rPr lang="en-US" dirty="0"/>
              <a:t>4.5 cm</a:t>
            </a:r>
          </a:p>
          <a:p>
            <a:r>
              <a:rPr lang="en-US" b="1" dirty="0"/>
              <a:t>PML thickness: </a:t>
            </a:r>
            <a:r>
              <a:rPr lang="en-US" dirty="0"/>
              <a:t>1 cm</a:t>
            </a:r>
          </a:p>
          <a:p>
            <a:r>
              <a:rPr lang="en-US" b="1" dirty="0"/>
              <a:t>Physics-based mesh: </a:t>
            </a:r>
            <a:r>
              <a:rPr lang="en-US" dirty="0"/>
              <a:t>Normal</a:t>
            </a:r>
          </a:p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9E90AB-8204-8A42-A2F4-A6A876F48EB4}"/>
              </a:ext>
            </a:extLst>
          </p:cNvPr>
          <p:cNvSpPr txBox="1"/>
          <p:nvPr/>
        </p:nvSpPr>
        <p:spPr>
          <a:xfrm>
            <a:off x="1904999" y="1367522"/>
            <a:ext cx="32080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If I reduce my bubble size such that resonance is ka ~ 1 or greater, then there is a strong match between  COMSOL and Chu</a:t>
            </a:r>
          </a:p>
        </p:txBody>
      </p:sp>
    </p:spTree>
    <p:extLst>
      <p:ext uri="{BB962C8B-B14F-4D97-AF65-F5344CB8AC3E}">
        <p14:creationId xmlns:p14="http://schemas.microsoft.com/office/powerpoint/2010/main" val="3180363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1F3B6-6265-7B9E-87FF-8A153790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602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Fish and swim bladder models</a:t>
            </a:r>
          </a:p>
        </p:txBody>
      </p:sp>
    </p:spTree>
    <p:extLst>
      <p:ext uri="{BB962C8B-B14F-4D97-AF65-F5344CB8AC3E}">
        <p14:creationId xmlns:p14="http://schemas.microsoft.com/office/powerpoint/2010/main" val="2539730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E459B14B-5B76-4714-7B3C-3CB4592EA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3" t="1" b="-3639"/>
          <a:stretch>
            <a:fillRect/>
          </a:stretch>
        </p:blipFill>
        <p:spPr>
          <a:xfrm>
            <a:off x="512305" y="1210289"/>
            <a:ext cx="4997472" cy="4320084"/>
          </a:xfrm>
          <a:prstGeom prst="ellipse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16B1FB2-CF8F-15B3-2712-E717834B1580}"/>
              </a:ext>
            </a:extLst>
          </p:cNvPr>
          <p:cNvGrpSpPr/>
          <p:nvPr/>
        </p:nvGrpSpPr>
        <p:grpSpPr>
          <a:xfrm rot="10985821">
            <a:off x="513325" y="5771034"/>
            <a:ext cx="843475" cy="622378"/>
            <a:chOff x="351412" y="5606813"/>
            <a:chExt cx="843475" cy="62237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B20698D-04B2-F2F3-9A4F-BE411B5B9A48}"/>
                </a:ext>
              </a:extLst>
            </p:cNvPr>
            <p:cNvCxnSpPr>
              <a:cxnSpLocks/>
            </p:cNvCxnSpPr>
            <p:nvPr/>
          </p:nvCxnSpPr>
          <p:spPr>
            <a:xfrm rot="21458204" flipH="1" flipV="1">
              <a:off x="351412" y="5858436"/>
              <a:ext cx="482600" cy="279400"/>
            </a:xfrm>
            <a:prstGeom prst="straightConnector1">
              <a:avLst/>
            </a:prstGeom>
            <a:ln w="571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B293CE6-20A1-A535-D302-AF26327AAD52}"/>
                </a:ext>
              </a:extLst>
            </p:cNvPr>
            <p:cNvCxnSpPr>
              <a:cxnSpLocks/>
            </p:cNvCxnSpPr>
            <p:nvPr/>
          </p:nvCxnSpPr>
          <p:spPr>
            <a:xfrm rot="7080000" flipH="1" flipV="1">
              <a:off x="813887" y="5848191"/>
              <a:ext cx="482600" cy="279400"/>
            </a:xfrm>
            <a:prstGeom prst="straightConnector1">
              <a:avLst/>
            </a:prstGeom>
            <a:ln w="571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6E12B1D-AEA6-7649-2D08-DF1E8504F840}"/>
                </a:ext>
              </a:extLst>
            </p:cNvPr>
            <p:cNvCxnSpPr>
              <a:cxnSpLocks/>
            </p:cNvCxnSpPr>
            <p:nvPr/>
          </p:nvCxnSpPr>
          <p:spPr>
            <a:xfrm rot="3458860" flipH="1" flipV="1">
              <a:off x="577256" y="5708413"/>
              <a:ext cx="482600" cy="279400"/>
            </a:xfrm>
            <a:prstGeom prst="straightConnector1">
              <a:avLst/>
            </a:prstGeom>
            <a:ln w="571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BB1F3B4-69D3-CF25-E606-E99A866A7CCA}"/>
              </a:ext>
            </a:extLst>
          </p:cNvPr>
          <p:cNvSpPr txBox="1"/>
          <p:nvPr/>
        </p:nvSpPr>
        <p:spPr>
          <a:xfrm>
            <a:off x="184971" y="5995016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3ABA6F-3E11-95D0-718D-AFE3C88D4C8C}"/>
              </a:ext>
            </a:extLst>
          </p:cNvPr>
          <p:cNvSpPr txBox="1"/>
          <p:nvPr/>
        </p:nvSpPr>
        <p:spPr>
          <a:xfrm>
            <a:off x="708020" y="630549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4C4721-8C70-91D6-B16D-BB9CE2C0EA05}"/>
              </a:ext>
            </a:extLst>
          </p:cNvPr>
          <p:cNvSpPr txBox="1"/>
          <p:nvPr/>
        </p:nvSpPr>
        <p:spPr>
          <a:xfrm>
            <a:off x="1275328" y="600947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y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8221A45-F6DC-01C6-2E79-0D9F7B4BBBCE}"/>
              </a:ext>
            </a:extLst>
          </p:cNvPr>
          <p:cNvSpPr/>
          <p:nvPr/>
        </p:nvSpPr>
        <p:spPr>
          <a:xfrm rot="5400000">
            <a:off x="2136509" y="2526864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1B4F1C5-AA53-0783-D672-E07ED9F58FD3}"/>
              </a:ext>
            </a:extLst>
          </p:cNvPr>
          <p:cNvSpPr/>
          <p:nvPr/>
        </p:nvSpPr>
        <p:spPr>
          <a:xfrm rot="5400000">
            <a:off x="2420986" y="2526864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03814AE-AF12-8D94-00AA-12506DFA1FFE}"/>
              </a:ext>
            </a:extLst>
          </p:cNvPr>
          <p:cNvSpPr/>
          <p:nvPr/>
        </p:nvSpPr>
        <p:spPr>
          <a:xfrm rot="5400000">
            <a:off x="1831172" y="2526866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7BF405C-26C6-7B66-4554-1963F9DB9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617" y="134641"/>
            <a:ext cx="6165005" cy="6723359"/>
          </a:xfrm>
          <a:prstGeom prst="rect">
            <a:avLst/>
          </a:prstGeom>
        </p:spPr>
      </p:pic>
      <p:sp>
        <p:nvSpPr>
          <p:cNvPr id="50" name="Title 49">
            <a:extLst>
              <a:ext uri="{FF2B5EF4-FFF2-40B4-BE49-F238E27FC236}">
                <a16:creationId xmlns:a16="http://schemas.microsoft.com/office/drawing/2014/main" id="{71DC5759-161A-DB3B-C02F-FCD59FC2D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14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DA0D2-7485-FE15-A9CC-DF3835D3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9C9B120C-573F-3964-21F1-F3F9CA993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3" t="1" b="-3639"/>
          <a:stretch>
            <a:fillRect/>
          </a:stretch>
        </p:blipFill>
        <p:spPr>
          <a:xfrm>
            <a:off x="512305" y="1210289"/>
            <a:ext cx="4997472" cy="4320084"/>
          </a:xfrm>
          <a:prstGeom prst="ellipse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25120AD-B0D5-169D-0F16-F2FD9B3A34F6}"/>
              </a:ext>
            </a:extLst>
          </p:cNvPr>
          <p:cNvGrpSpPr/>
          <p:nvPr/>
        </p:nvGrpSpPr>
        <p:grpSpPr>
          <a:xfrm rot="10985821">
            <a:off x="513325" y="5771034"/>
            <a:ext cx="843475" cy="622378"/>
            <a:chOff x="351412" y="5606813"/>
            <a:chExt cx="843475" cy="62237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9423589-209C-0442-3472-29A0258245E1}"/>
                </a:ext>
              </a:extLst>
            </p:cNvPr>
            <p:cNvCxnSpPr>
              <a:cxnSpLocks/>
            </p:cNvCxnSpPr>
            <p:nvPr/>
          </p:nvCxnSpPr>
          <p:spPr>
            <a:xfrm rot="21458204" flipH="1" flipV="1">
              <a:off x="351412" y="5858436"/>
              <a:ext cx="482600" cy="279400"/>
            </a:xfrm>
            <a:prstGeom prst="straightConnector1">
              <a:avLst/>
            </a:prstGeom>
            <a:ln w="571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DE2F703-6F08-F7E3-2C8F-15F2E130D0A5}"/>
                </a:ext>
              </a:extLst>
            </p:cNvPr>
            <p:cNvCxnSpPr>
              <a:cxnSpLocks/>
            </p:cNvCxnSpPr>
            <p:nvPr/>
          </p:nvCxnSpPr>
          <p:spPr>
            <a:xfrm rot="7080000" flipH="1" flipV="1">
              <a:off x="813887" y="5848191"/>
              <a:ext cx="482600" cy="279400"/>
            </a:xfrm>
            <a:prstGeom prst="straightConnector1">
              <a:avLst/>
            </a:prstGeom>
            <a:ln w="571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DDBD23B-B2C4-8FD5-067D-2B7B1C88E106}"/>
                </a:ext>
              </a:extLst>
            </p:cNvPr>
            <p:cNvCxnSpPr>
              <a:cxnSpLocks/>
            </p:cNvCxnSpPr>
            <p:nvPr/>
          </p:nvCxnSpPr>
          <p:spPr>
            <a:xfrm rot="3458860" flipH="1" flipV="1">
              <a:off x="577256" y="5708413"/>
              <a:ext cx="482600" cy="279400"/>
            </a:xfrm>
            <a:prstGeom prst="straightConnector1">
              <a:avLst/>
            </a:prstGeom>
            <a:ln w="571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4C7CC4E-E4FF-A303-3147-FA718A5873E1}"/>
              </a:ext>
            </a:extLst>
          </p:cNvPr>
          <p:cNvSpPr txBox="1"/>
          <p:nvPr/>
        </p:nvSpPr>
        <p:spPr>
          <a:xfrm>
            <a:off x="184971" y="5995016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0913F-CBC3-DE3A-E40B-90E22880D34C}"/>
              </a:ext>
            </a:extLst>
          </p:cNvPr>
          <p:cNvSpPr txBox="1"/>
          <p:nvPr/>
        </p:nvSpPr>
        <p:spPr>
          <a:xfrm>
            <a:off x="708020" y="6305490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B6AC8C-B479-4197-60E6-9C3082B83243}"/>
              </a:ext>
            </a:extLst>
          </p:cNvPr>
          <p:cNvSpPr txBox="1"/>
          <p:nvPr/>
        </p:nvSpPr>
        <p:spPr>
          <a:xfrm>
            <a:off x="1275328" y="6009479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y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97A4BA5-A648-8A8A-64CD-F82BCE34166D}"/>
              </a:ext>
            </a:extLst>
          </p:cNvPr>
          <p:cNvSpPr/>
          <p:nvPr/>
        </p:nvSpPr>
        <p:spPr>
          <a:xfrm rot="5400000">
            <a:off x="2136509" y="2526864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F647C1A2-4651-F040-E6E3-C659918EC82E}"/>
              </a:ext>
            </a:extLst>
          </p:cNvPr>
          <p:cNvSpPr/>
          <p:nvPr/>
        </p:nvSpPr>
        <p:spPr>
          <a:xfrm rot="5400000">
            <a:off x="2420986" y="2526864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1189986-4FEF-5532-A774-55D2BB3BD4B0}"/>
              </a:ext>
            </a:extLst>
          </p:cNvPr>
          <p:cNvSpPr/>
          <p:nvPr/>
        </p:nvSpPr>
        <p:spPr>
          <a:xfrm rot="5400000">
            <a:off x="1831172" y="2526866"/>
            <a:ext cx="625642" cy="29838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itle 49">
            <a:extLst>
              <a:ext uri="{FF2B5EF4-FFF2-40B4-BE49-F238E27FC236}">
                <a16:creationId xmlns:a16="http://schemas.microsoft.com/office/drawing/2014/main" id="{5434DA13-6E1E-004E-E05A-32457779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F65472-E65E-9021-A670-5FFD307B5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799" y="100936"/>
            <a:ext cx="6103357" cy="665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48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940B4E4-7AD2-35FE-8C76-B784AA6681A1}"/>
              </a:ext>
            </a:extLst>
          </p:cNvPr>
          <p:cNvGrpSpPr/>
          <p:nvPr/>
        </p:nvGrpSpPr>
        <p:grpSpPr>
          <a:xfrm rot="7133355">
            <a:off x="170686" y="5234045"/>
            <a:ext cx="1641350" cy="964062"/>
            <a:chOff x="149541" y="5546676"/>
            <a:chExt cx="1641350" cy="96406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92EF87F-E764-2175-BC74-43A120CD8F23}"/>
                </a:ext>
              </a:extLst>
            </p:cNvPr>
            <p:cNvGrpSpPr/>
            <p:nvPr/>
          </p:nvGrpSpPr>
          <p:grpSpPr>
            <a:xfrm rot="10985821">
              <a:off x="641089" y="5546676"/>
              <a:ext cx="843475" cy="622379"/>
              <a:chOff x="351412" y="5606812"/>
              <a:chExt cx="843475" cy="622379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299DC3F2-0DBA-4C8F-6F0C-558AD4CE7D40}"/>
                  </a:ext>
                </a:extLst>
              </p:cNvPr>
              <p:cNvCxnSpPr>
                <a:cxnSpLocks/>
              </p:cNvCxnSpPr>
              <p:nvPr/>
            </p:nvCxnSpPr>
            <p:spPr>
              <a:xfrm rot="21458204" flipH="1" flipV="1">
                <a:off x="351412" y="5858436"/>
                <a:ext cx="482600" cy="279400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80181A5-B372-EC94-A139-1281D46DB064}"/>
                  </a:ext>
                </a:extLst>
              </p:cNvPr>
              <p:cNvCxnSpPr>
                <a:cxnSpLocks/>
              </p:cNvCxnSpPr>
              <p:nvPr/>
            </p:nvCxnSpPr>
            <p:spPr>
              <a:xfrm rot="7080000" flipH="1" flipV="1">
                <a:off x="813887" y="5848191"/>
                <a:ext cx="482600" cy="279400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F505639-5A6C-6211-7024-6D83712F40E8}"/>
                  </a:ext>
                </a:extLst>
              </p:cNvPr>
              <p:cNvCxnSpPr>
                <a:cxnSpLocks/>
              </p:cNvCxnSpPr>
              <p:nvPr/>
            </p:nvCxnSpPr>
            <p:spPr>
              <a:xfrm rot="3458860" flipH="1" flipV="1">
                <a:off x="577257" y="5708412"/>
                <a:ext cx="482600" cy="279400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E90CA64-4EE2-6348-3671-3810599DE9FA}"/>
                </a:ext>
              </a:extLst>
            </p:cNvPr>
            <p:cNvSpPr txBox="1"/>
            <p:nvPr/>
          </p:nvSpPr>
          <p:spPr>
            <a:xfrm rot="14281408">
              <a:off x="216707" y="5767221"/>
              <a:ext cx="3273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</a:rPr>
                <a:t>z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361D65-EC93-D322-76D8-CD80E650CFA3}"/>
                </a:ext>
              </a:extLst>
            </p:cNvPr>
            <p:cNvSpPr txBox="1"/>
            <p:nvPr/>
          </p:nvSpPr>
          <p:spPr>
            <a:xfrm rot="14466645">
              <a:off x="811722" y="6111429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</a:rPr>
                <a:t>x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D80AF4-4EBE-82BE-8912-036EC18FD139}"/>
                </a:ext>
              </a:extLst>
            </p:cNvPr>
            <p:cNvSpPr txBox="1"/>
            <p:nvPr/>
          </p:nvSpPr>
          <p:spPr>
            <a:xfrm rot="14466645">
              <a:off x="1391583" y="5830209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</a:rPr>
                <a:t>y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50EF0D67-FBA3-7454-A29D-DE53DB1E0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634" y="233527"/>
            <a:ext cx="6017570" cy="6433973"/>
          </a:xfrm>
          <a:prstGeom prst="rect">
            <a:avLst/>
          </a:prstGeom>
        </p:spPr>
      </p:pic>
      <p:pic>
        <p:nvPicPr>
          <p:cNvPr id="23" name="Content Placeholder 5">
            <a:extLst>
              <a:ext uri="{FF2B5EF4-FFF2-40B4-BE49-F238E27FC236}">
                <a16:creationId xmlns:a16="http://schemas.microsoft.com/office/drawing/2014/main" id="{3DA37032-C5AB-1387-45CA-9AE9FE855A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609"/>
          <a:stretch>
            <a:fillRect/>
          </a:stretch>
        </p:blipFill>
        <p:spPr>
          <a:xfrm>
            <a:off x="391589" y="592073"/>
            <a:ext cx="5291300" cy="4541033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9A02DD65-02A9-FE33-1549-030E2E021CF9}"/>
              </a:ext>
            </a:extLst>
          </p:cNvPr>
          <p:cNvSpPr/>
          <p:nvPr/>
        </p:nvSpPr>
        <p:spPr>
          <a:xfrm rot="5400000">
            <a:off x="2489538" y="1780281"/>
            <a:ext cx="652919" cy="301989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0892B94-324A-871B-AF6B-28B1D9EB088F}"/>
              </a:ext>
            </a:extLst>
          </p:cNvPr>
          <p:cNvSpPr/>
          <p:nvPr/>
        </p:nvSpPr>
        <p:spPr>
          <a:xfrm rot="5400000">
            <a:off x="2774015" y="1780281"/>
            <a:ext cx="652919" cy="301989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8F5210A9-B8B3-798D-C0E8-810BBBDCA9A4}"/>
              </a:ext>
            </a:extLst>
          </p:cNvPr>
          <p:cNvSpPr/>
          <p:nvPr/>
        </p:nvSpPr>
        <p:spPr>
          <a:xfrm rot="5400000">
            <a:off x="2184201" y="1780283"/>
            <a:ext cx="652919" cy="301989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75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CE9C4-D721-E6DD-D2CE-BD98534DB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4B2531A4-4749-956C-6792-79C39C403F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09"/>
          <a:stretch>
            <a:fillRect/>
          </a:stretch>
        </p:blipFill>
        <p:spPr>
          <a:xfrm>
            <a:off x="338626" y="683022"/>
            <a:ext cx="5291300" cy="4541033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3A10FCCE-4728-ECB4-D5AF-9BFF893CB3AC}"/>
              </a:ext>
            </a:extLst>
          </p:cNvPr>
          <p:cNvSpPr/>
          <p:nvPr/>
        </p:nvSpPr>
        <p:spPr>
          <a:xfrm rot="5400000">
            <a:off x="2436575" y="1871230"/>
            <a:ext cx="652919" cy="301989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B892BB8-F8B8-36B6-1E06-8B535EA14E45}"/>
              </a:ext>
            </a:extLst>
          </p:cNvPr>
          <p:cNvSpPr/>
          <p:nvPr/>
        </p:nvSpPr>
        <p:spPr>
          <a:xfrm rot="5400000">
            <a:off x="2721052" y="1871230"/>
            <a:ext cx="652919" cy="301989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B8920C9-D77E-50E0-B67D-31B6CF664E32}"/>
              </a:ext>
            </a:extLst>
          </p:cNvPr>
          <p:cNvSpPr/>
          <p:nvPr/>
        </p:nvSpPr>
        <p:spPr>
          <a:xfrm rot="5400000">
            <a:off x="2131238" y="1871232"/>
            <a:ext cx="652919" cy="301989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A527F03-025E-49E3-3D1F-0F8C3437C331}"/>
              </a:ext>
            </a:extLst>
          </p:cNvPr>
          <p:cNvGrpSpPr/>
          <p:nvPr/>
        </p:nvGrpSpPr>
        <p:grpSpPr>
          <a:xfrm rot="7133355">
            <a:off x="109728" y="5259261"/>
            <a:ext cx="1641350" cy="964062"/>
            <a:chOff x="149541" y="5546676"/>
            <a:chExt cx="1641350" cy="96406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2D34D2E-F8F3-6586-C616-4DF04CA98672}"/>
                </a:ext>
              </a:extLst>
            </p:cNvPr>
            <p:cNvGrpSpPr/>
            <p:nvPr/>
          </p:nvGrpSpPr>
          <p:grpSpPr>
            <a:xfrm rot="10985821">
              <a:off x="641089" y="5546676"/>
              <a:ext cx="843475" cy="622379"/>
              <a:chOff x="351412" y="5606812"/>
              <a:chExt cx="843475" cy="622379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E825C5DB-3C1B-7BEC-D999-DFB06A516E9A}"/>
                  </a:ext>
                </a:extLst>
              </p:cNvPr>
              <p:cNvCxnSpPr>
                <a:cxnSpLocks/>
              </p:cNvCxnSpPr>
              <p:nvPr/>
            </p:nvCxnSpPr>
            <p:spPr>
              <a:xfrm rot="21458204" flipH="1" flipV="1">
                <a:off x="351412" y="5858436"/>
                <a:ext cx="482600" cy="279400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558D1F21-2695-B99F-432D-2B41A6DC7E8B}"/>
                  </a:ext>
                </a:extLst>
              </p:cNvPr>
              <p:cNvCxnSpPr>
                <a:cxnSpLocks/>
              </p:cNvCxnSpPr>
              <p:nvPr/>
            </p:nvCxnSpPr>
            <p:spPr>
              <a:xfrm rot="7080000" flipH="1" flipV="1">
                <a:off x="813887" y="5848191"/>
                <a:ext cx="482600" cy="279400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F5F4738-A948-A9FC-0F14-B44A1108298C}"/>
                  </a:ext>
                </a:extLst>
              </p:cNvPr>
              <p:cNvCxnSpPr>
                <a:cxnSpLocks/>
              </p:cNvCxnSpPr>
              <p:nvPr/>
            </p:nvCxnSpPr>
            <p:spPr>
              <a:xfrm rot="3458860" flipH="1" flipV="1">
                <a:off x="577257" y="5708412"/>
                <a:ext cx="482600" cy="279400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D422D1-981D-BB8A-AAE4-243EA0EAAB37}"/>
                </a:ext>
              </a:extLst>
            </p:cNvPr>
            <p:cNvSpPr txBox="1"/>
            <p:nvPr/>
          </p:nvSpPr>
          <p:spPr>
            <a:xfrm rot="14281408">
              <a:off x="216707" y="5767221"/>
              <a:ext cx="3273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</a:rPr>
                <a:t>z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2929C44-3FE8-67BD-6040-D0896D17769D}"/>
                </a:ext>
              </a:extLst>
            </p:cNvPr>
            <p:cNvSpPr txBox="1"/>
            <p:nvPr/>
          </p:nvSpPr>
          <p:spPr>
            <a:xfrm rot="14466645">
              <a:off x="811722" y="6111429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</a:rPr>
                <a:t>x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3CE63F2-0B50-EF53-77A1-23091DF87CEF}"/>
                </a:ext>
              </a:extLst>
            </p:cNvPr>
            <p:cNvSpPr txBox="1"/>
            <p:nvPr/>
          </p:nvSpPr>
          <p:spPr>
            <a:xfrm rot="14466645">
              <a:off x="1391583" y="5830209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</a:rPr>
                <a:t>y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ABF6390-BD9F-FB05-E7AD-BA59369B0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867" y="165285"/>
            <a:ext cx="6104978" cy="652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92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12AD0-C19C-EAF8-9F4D-1847211D5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98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Voxel-based assignment of bone material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49B2EC-7D29-29AF-C1B8-DB0B96AEE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590" y="397189"/>
            <a:ext cx="5801784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063F6F-C43D-6B1C-90FB-BC0728493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39" y="397189"/>
            <a:ext cx="6096851" cy="4572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C80AB0-B37F-F7A7-4399-9CE30FB004C9}"/>
              </a:ext>
            </a:extLst>
          </p:cNvPr>
          <p:cNvSpPr txBox="1"/>
          <p:nvPr/>
        </p:nvSpPr>
        <p:spPr>
          <a:xfrm>
            <a:off x="801921" y="4016118"/>
            <a:ext cx="10705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Volume plot of the binary bone mask in COMSOL (red voxels = bone; white voxels = tissue)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75DAB-9175-0C98-004E-76AD3F32C428}"/>
              </a:ext>
            </a:extLst>
          </p:cNvPr>
          <p:cNvSpPr txBox="1"/>
          <p:nvPr/>
        </p:nvSpPr>
        <p:spPr>
          <a:xfrm>
            <a:off x="1004294" y="4637528"/>
            <a:ext cx="109270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/>
              <a:t>1. Export segmented coordinates from 3D Slicer with binary labels (1 = bone; 0 = tissue). </a:t>
            </a:r>
          </a:p>
          <a:p>
            <a:pPr lvl="0"/>
            <a:r>
              <a:rPr lang="en-US" sz="2000" dirty="0"/>
              <a:t>2. Retain only coordinates that fall within the processed fish-body surface mesh. </a:t>
            </a:r>
          </a:p>
          <a:p>
            <a:pPr lvl="0"/>
            <a:r>
              <a:rPr lang="en-US" sz="2000" dirty="0"/>
              <a:t>3. Import the data into COMSOL as a nearest-neighbor interpolation function</a:t>
            </a:r>
          </a:p>
          <a:p>
            <a:pPr lvl="0"/>
            <a:r>
              <a:rPr lang="en-US" sz="2000" dirty="0"/>
              <a:t>4. Use conditional expressions to assign bone or tissue material properties based on the interpolated label.</a:t>
            </a:r>
          </a:p>
        </p:txBody>
      </p:sp>
    </p:spTree>
    <p:extLst>
      <p:ext uri="{BB962C8B-B14F-4D97-AF65-F5344CB8AC3E}">
        <p14:creationId xmlns:p14="http://schemas.microsoft.com/office/powerpoint/2010/main" val="2831818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DB8E-9842-E004-9043-9BCB8C650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B35A14-BF68-96AE-CEBC-49D30E570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760" y="308536"/>
            <a:ext cx="8502480" cy="640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96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7F21-690F-58D2-0A14-314252206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A58D5A-7F4F-FDF4-7E33-1FAB09146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635" y="365125"/>
            <a:ext cx="8461195" cy="62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899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5491-5B14-81EC-CD6D-3C0443AC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75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KRM still in progress. Here are outlines that I am using as input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8D8D3D-FFD9-462D-53E9-0B2CCFC7C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032" y="1325563"/>
            <a:ext cx="8021647" cy="549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94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9534D23-EB8D-77ED-FFD4-CD4FF9735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737" y="485410"/>
            <a:ext cx="8235223" cy="58871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39CD81D-8558-8305-D2A2-B57AC5840FC2}"/>
              </a:ext>
            </a:extLst>
          </p:cNvPr>
          <p:cNvSpPr txBox="1"/>
          <p:nvPr/>
        </p:nvSpPr>
        <p:spPr>
          <a:xfrm>
            <a:off x="4747260" y="53340"/>
            <a:ext cx="2471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For soft sphere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890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C00CD5E89E7D44BD05E9328922935B" ma:contentTypeVersion="8" ma:contentTypeDescription="Create a new document." ma:contentTypeScope="" ma:versionID="d0341333a900f6832e5ca9fedca600d5">
  <xsd:schema xmlns:xsd="http://www.w3.org/2001/XMLSchema" xmlns:xs="http://www.w3.org/2001/XMLSchema" xmlns:p="http://schemas.microsoft.com/office/2006/metadata/properties" xmlns:ns3="7b1efada-d8d5-48ef-8f67-a1b283ce9865" xmlns:ns4="123adc65-1c1c-4a15-8803-c6a5ca297e4c" targetNamespace="http://schemas.microsoft.com/office/2006/metadata/properties" ma:root="true" ma:fieldsID="84a11b779bf99975558f09f821eba632" ns3:_="" ns4:_="">
    <xsd:import namespace="7b1efada-d8d5-48ef-8f67-a1b283ce9865"/>
    <xsd:import namespace="123adc65-1c1c-4a15-8803-c6a5ca297e4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fada-d8d5-48ef-8f67-a1b283ce98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adc65-1c1c-4a15-8803-c6a5ca297e4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1efada-d8d5-48ef-8f67-a1b283ce9865" xsi:nil="true"/>
  </documentManagement>
</p:properties>
</file>

<file path=customXml/itemProps1.xml><?xml version="1.0" encoding="utf-8"?>
<ds:datastoreItem xmlns:ds="http://schemas.openxmlformats.org/officeDocument/2006/customXml" ds:itemID="{82936888-E15B-4115-BBA4-288E148E11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8EB2A5-000A-4BBD-80A1-C6F885313D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1efada-d8d5-48ef-8f67-a1b283ce9865"/>
    <ds:schemaRef ds:uri="123adc65-1c1c-4a15-8803-c6a5ca297e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8FF5AB-A902-4BE7-A05A-BAF959109CBD}">
  <ds:schemaRefs>
    <ds:schemaRef ds:uri="http://schemas.microsoft.com/office/2006/metadata/properties"/>
    <ds:schemaRef ds:uri="http://schemas.microsoft.com/office/infopath/2007/PartnerControls"/>
    <ds:schemaRef ds:uri="7b1efada-d8d5-48ef-8f67-a1b283ce9865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schemas.openxmlformats.org/package/2006/metadata/core-properties"/>
    <ds:schemaRef ds:uri="123adc65-1c1c-4a15-8803-c6a5ca297e4c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1941</TotalTime>
  <Words>215</Words>
  <Application>Microsoft Office PowerPoint</Application>
  <PresentationFormat>Widescreen</PresentationFormat>
  <Paragraphs>35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Acoustic scattering by spheres and swim bladders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Fish and swim bladder models</vt:lpstr>
      <vt:lpstr>PowerPoint Presentation</vt:lpstr>
      <vt:lpstr>PowerPoint Presentation</vt:lpstr>
      <vt:lpstr>PowerPoint Presentation</vt:lpstr>
      <vt:lpstr>PowerPoint Presentation</vt:lpstr>
      <vt:lpstr>Voxel-based assignment of bone material</vt:lpstr>
      <vt:lpstr>PowerPoint Presentation</vt:lpstr>
      <vt:lpstr>PowerPoint Presentation</vt:lpstr>
      <vt:lpstr>KRM still in progress. Here are outlines that I am using as input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Chhaya</dc:creator>
  <cp:lastModifiedBy>Vaibhav Chhaya</cp:lastModifiedBy>
  <cp:revision>2</cp:revision>
  <dcterms:created xsi:type="dcterms:W3CDTF">2026-09-08T16:41:56Z</dcterms:created>
  <dcterms:modified xsi:type="dcterms:W3CDTF">2026-09-22T17:58:45Z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0x010100EAC00CD5E89E7D44BD05E9328922935B</vt:lpwstr>
  </property>
</Properties>
</file>